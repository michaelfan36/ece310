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8" r:id="rId2"/>
    <p:sldId id="256" r:id="rId3"/>
    <p:sldId id="257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82"/>
    <p:restoredTop sz="94529"/>
  </p:normalViewPr>
  <p:slideViewPr>
    <p:cSldViewPr snapToGrid="0" snapToObjects="1">
      <p:cViewPr>
        <p:scale>
          <a:sx n="95" d="100"/>
          <a:sy n="95" d="100"/>
        </p:scale>
        <p:origin x="221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EEEC1-9E8E-5540-B7FE-443586932809}" type="datetimeFigureOut">
              <a:rPr lang="en-US" smtClean="0"/>
              <a:t>12/6/18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43086-E5B5-044E-A2A5-4E0A56724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DC300-C3CD-D748-8CF0-7FCD33091813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064A6-B636-4640-8BFC-4E3ADE364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9900" y="611967"/>
            <a:ext cx="2370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" charset="0"/>
                <a:ea typeface="Times" charset="0"/>
                <a:cs typeface="Times" charset="0"/>
              </a:rPr>
              <a:t>A/D and D/A circuits</a:t>
            </a:r>
            <a:endParaRPr lang="en-US" sz="2000" dirty="0"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65877" y="1264223"/>
            <a:ext cx="690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600" dirty="0" smtClean="0">
                <a:latin typeface="Times" charset="0"/>
                <a:ea typeface="Times" charset="0"/>
                <a:cs typeface="Times" charset="0"/>
              </a:rPr>
              <a:t>A/D consists of a </a:t>
            </a:r>
            <a:r>
              <a:rPr lang="en-US" sz="1600" u="sng" dirty="0" smtClean="0">
                <a:latin typeface="Times" charset="0"/>
                <a:ea typeface="Times" charset="0"/>
                <a:cs typeface="Times" charset="0"/>
              </a:rPr>
              <a:t>Sample and Hold</a:t>
            </a:r>
            <a:r>
              <a:rPr lang="en-US" sz="1600" dirty="0" smtClean="0">
                <a:latin typeface="Times" charset="0"/>
                <a:ea typeface="Times" charset="0"/>
                <a:cs typeface="Times" charset="0"/>
              </a:rPr>
              <a:t> (S/H) followed by a </a:t>
            </a:r>
            <a:r>
              <a:rPr lang="en-US" sz="1600" u="sng" dirty="0" err="1">
                <a:latin typeface="Times" charset="0"/>
                <a:ea typeface="Times" charset="0"/>
                <a:cs typeface="Times" charset="0"/>
              </a:rPr>
              <a:t>Q</a:t>
            </a:r>
            <a:r>
              <a:rPr lang="en-US" sz="1600" u="sng" dirty="0" err="1" smtClean="0">
                <a:latin typeface="Times" charset="0"/>
                <a:ea typeface="Times" charset="0"/>
                <a:cs typeface="Times" charset="0"/>
              </a:rPr>
              <a:t>uantizer</a:t>
            </a:r>
            <a:endParaRPr lang="en-US" sz="1600" b="0" u="sng" dirty="0" smtClean="0">
              <a:latin typeface="Times" charset="0"/>
              <a:ea typeface="Times" charset="0"/>
              <a:cs typeface="Times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858618" y="1775411"/>
            <a:ext cx="4631636" cy="1893302"/>
            <a:chOff x="974035" y="2424390"/>
            <a:chExt cx="6470374" cy="2644934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4035" y="2424390"/>
              <a:ext cx="6470374" cy="2644934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40329" y="2907746"/>
              <a:ext cx="631956" cy="3869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smtClean="0">
                  <a:latin typeface="Times" charset="0"/>
                  <a:ea typeface="Times" charset="0"/>
                  <a:cs typeface="Times" charset="0"/>
                </a:rPr>
                <a:t>x</a:t>
              </a:r>
              <a:r>
                <a:rPr lang="en-US" sz="1200" baseline="-25000" smtClean="0">
                  <a:latin typeface="Times" charset="0"/>
                  <a:ea typeface="Times" charset="0"/>
                  <a:cs typeface="Times" charset="0"/>
                </a:rPr>
                <a:t>c</a:t>
              </a:r>
              <a:r>
                <a:rPr lang="en-US" sz="1200" smtClean="0">
                  <a:latin typeface="Times" charset="0"/>
                  <a:ea typeface="Times" charset="0"/>
                  <a:cs typeface="Times" charset="0"/>
                </a:rPr>
                <a:t>(t)</a:t>
              </a:r>
              <a:endParaRPr lang="en-US" sz="1200">
                <a:latin typeface="Times" charset="0"/>
                <a:ea typeface="Times" charset="0"/>
                <a:cs typeface="Times" charset="0"/>
              </a:endParaRP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r="29686"/>
          <a:stretch/>
        </p:blipFill>
        <p:spPr>
          <a:xfrm>
            <a:off x="2787934" y="3849402"/>
            <a:ext cx="2776097" cy="168565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65877" y="5988623"/>
            <a:ext cx="690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600" dirty="0" smtClean="0">
                <a:latin typeface="Times" charset="0"/>
                <a:ea typeface="Times" charset="0"/>
                <a:cs typeface="Times" charset="0"/>
              </a:rPr>
              <a:t>Let’s look at two popular types of </a:t>
            </a:r>
            <a:r>
              <a:rPr lang="en-US" sz="1600" dirty="0" err="1" smtClean="0">
                <a:latin typeface="Times" charset="0"/>
                <a:ea typeface="Times" charset="0"/>
                <a:cs typeface="Times" charset="0"/>
              </a:rPr>
              <a:t>quantizer</a:t>
            </a:r>
            <a:endParaRPr lang="en-US" sz="1600" b="0" u="sng" dirty="0" smtClean="0"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55600" y="6550223"/>
            <a:ext cx="366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latin typeface="Times" charset="0"/>
                <a:ea typeface="Times" charset="0"/>
                <a:cs typeface="Times" charset="0"/>
              </a:rPr>
              <a:t>*adapted from </a:t>
            </a:r>
            <a:r>
              <a:rPr lang="en-US" sz="1400" dirty="0">
                <a:latin typeface="Times" charset="0"/>
                <a:ea typeface="Times" charset="0"/>
                <a:cs typeface="Times" charset="0"/>
              </a:rPr>
              <a:t>course notes by D.C. Munson, Jr.</a:t>
            </a:r>
          </a:p>
        </p:txBody>
      </p:sp>
    </p:spTree>
    <p:extLst>
      <p:ext uri="{BB962C8B-B14F-4D97-AF65-F5344CB8AC3E}">
        <p14:creationId xmlns:p14="http://schemas.microsoft.com/office/powerpoint/2010/main" val="53095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10906" y="1624076"/>
            <a:ext cx="5928550" cy="2857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9900" y="611967"/>
            <a:ext cx="3415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" charset="0"/>
                <a:ea typeface="Times" charset="0"/>
                <a:cs typeface="Times" charset="0"/>
              </a:rPr>
              <a:t>Successive Approximation A/D</a:t>
            </a:r>
            <a:endParaRPr lang="en-US" sz="2000" dirty="0"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046" y="1852049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output from S/H</a:t>
            </a:r>
            <a:endParaRPr lang="en-US" sz="140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29686"/>
          <a:stretch/>
        </p:blipFill>
        <p:spPr>
          <a:xfrm>
            <a:off x="205643" y="2257362"/>
            <a:ext cx="2225731" cy="1351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1920" y="2509892"/>
            <a:ext cx="114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digital output</a:t>
            </a:r>
          </a:p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x[n]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218880" y="4510288"/>
                <a:ext cx="690099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Example: 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charset="0"/>
                        <a:ea typeface="Times" charset="0"/>
                        <a:cs typeface="Times" charset="0"/>
                      </a:rPr>
                      <m:t>0&lt;</m:t>
                    </m:r>
                    <m:sSub>
                      <m:sSubPr>
                        <m:ctrlP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latin typeface="Cambria Math" charset="0"/>
                        <a:ea typeface="Times" charset="0"/>
                        <a:cs typeface="Times" charset="0"/>
                      </a:rPr>
                      <m:t>&lt;1</m:t>
                    </m:r>
                    <m:r>
                      <a:rPr lang="en-US" sz="1600" b="0" i="1" smtClean="0">
                        <a:latin typeface="Cambria Math" charset="0"/>
                        <a:ea typeface="Times" charset="0"/>
                        <a:cs typeface="Times" charset="0"/>
                      </a:rPr>
                      <m:t>𝑉</m:t>
                    </m:r>
                  </m:oMath>
                </a14:m>
                <a:endParaRPr lang="en-US" sz="1600" b="0" dirty="0" smtClean="0">
                  <a:latin typeface="Times" charset="0"/>
                  <a:ea typeface="Times" charset="0"/>
                  <a:cs typeface="Times" charset="0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1600" dirty="0">
                    <a:latin typeface="Times" charset="0"/>
                    <a:ea typeface="Times" charset="0"/>
                    <a:cs typeface="Times" charset="0"/>
                  </a:rPr>
                  <a:t>4</a:t>
                </a: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-bit output 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Output of D/A: 16 possible levels: 0V, 1/16V, 2/16V, 3/16V, </a:t>
                </a:r>
                <a:r>
                  <a:rPr lang="is-IS" sz="1600" dirty="0" smtClean="0">
                    <a:latin typeface="Times" charset="0"/>
                    <a:ea typeface="Times" charset="0"/>
                    <a:cs typeface="Times" charset="0"/>
                  </a:rPr>
                  <a:t>…, </a:t>
                </a: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15/16V)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sz="1600" dirty="0" smtClean="0">
                  <a:latin typeface="Times" charset="0"/>
                  <a:ea typeface="Times" charset="0"/>
                  <a:cs typeface="Times" charset="0"/>
                </a:endParaRPr>
              </a:p>
              <a:p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This approach is slow. Only works for low and medium sampling rates</a:t>
                </a:r>
                <a:endParaRPr lang="en-US" sz="1600" dirty="0">
                  <a:latin typeface="Times" charset="0"/>
                  <a:ea typeface="Times" charset="0"/>
                  <a:cs typeface="Times" charset="0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80" y="4510288"/>
                <a:ext cx="6900992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530" t="-1556" b="-3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306148" y="258552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973" y="258050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24666" y="258552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2459" y="258552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49499" y="165294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48997" y="2933097"/>
            <a:ext cx="2744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05161" y="1652944"/>
            <a:ext cx="409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0.3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99662" y="2576109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" charset="0"/>
                <a:ea typeface="Times" charset="0"/>
                <a:cs typeface="Times" charset="0"/>
              </a:rPr>
              <a:t>comparator</a:t>
            </a:r>
            <a:endParaRPr lang="en-US" sz="1200" dirty="0"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79548" y="2586338"/>
            <a:ext cx="274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239" y="1655568"/>
            <a:ext cx="5036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1/16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29581" y="2585522"/>
            <a:ext cx="274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29000" y="1655568"/>
            <a:ext cx="5036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2</a:t>
            </a:r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/16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29000" y="1655568"/>
            <a:ext cx="5036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3/16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1655568"/>
            <a:ext cx="5036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4</a:t>
            </a:r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/16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972" y="2585522"/>
            <a:ext cx="274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48997" y="2930200"/>
            <a:ext cx="274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29000" y="1655568"/>
            <a:ext cx="5036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5/16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98736" y="1647920"/>
            <a:ext cx="285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&gt;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98497" y="1645793"/>
            <a:ext cx="28565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&lt;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07414" y="1648236"/>
            <a:ext cx="40908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0.1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55600" y="6550223"/>
            <a:ext cx="366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latin typeface="Times" charset="0"/>
                <a:ea typeface="Times" charset="0"/>
                <a:cs typeface="Times" charset="0"/>
              </a:rPr>
              <a:t>*adapted from </a:t>
            </a:r>
            <a:r>
              <a:rPr lang="en-US" sz="1400" dirty="0">
                <a:latin typeface="Times" charset="0"/>
                <a:ea typeface="Times" charset="0"/>
                <a:cs typeface="Times" charset="0"/>
              </a:rPr>
              <a:t>course notes by D.C. Munson, Jr.</a:t>
            </a:r>
          </a:p>
        </p:txBody>
      </p:sp>
    </p:spTree>
    <p:extLst>
      <p:ext uri="{BB962C8B-B14F-4D97-AF65-F5344CB8AC3E}">
        <p14:creationId xmlns:p14="http://schemas.microsoft.com/office/powerpoint/2010/main" val="88973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20" grpId="0" animBg="1"/>
      <p:bldP spid="21" grpId="1" animBg="1"/>
      <p:bldP spid="21" grpId="2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7" grpId="1" animBg="1"/>
      <p:bldP spid="28" grpId="0"/>
      <p:bldP spid="29" grpId="0" animBg="1"/>
      <p:bldP spid="29" grpId="1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9900" y="611967"/>
            <a:ext cx="1232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" charset="0"/>
                <a:ea typeface="Times" charset="0"/>
                <a:cs typeface="Times" charset="0"/>
              </a:rPr>
              <a:t>Flash A/D</a:t>
            </a:r>
            <a:endParaRPr lang="en-US" sz="2000" dirty="0">
              <a:latin typeface="Times" charset="0"/>
              <a:ea typeface="Times" charset="0"/>
              <a:cs typeface="Times" charset="0"/>
            </a:endParaRPr>
          </a:p>
        </p:txBody>
      </p:sp>
      <p:pic>
        <p:nvPicPr>
          <p:cNvPr id="31" name="Picture 30"/>
          <p:cNvPicPr/>
          <p:nvPr/>
        </p:nvPicPr>
        <p:blipFill>
          <a:blip r:embed="rId2"/>
          <a:stretch>
            <a:fillRect/>
          </a:stretch>
        </p:blipFill>
        <p:spPr>
          <a:xfrm>
            <a:off x="2485788" y="1641945"/>
            <a:ext cx="5071397" cy="357495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86364" y="1675134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output from S/H</a:t>
            </a:r>
            <a:endParaRPr lang="en-US" sz="140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1165877" y="5559915"/>
                <a:ext cx="69009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Can handle high sampling rates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Uses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𝑁</m:t>
                        </m:r>
                      </m:sup>
                    </m:sSup>
                    <m:r>
                      <a:rPr lang="en-US" sz="1600" b="0" i="1" smtClean="0">
                        <a:latin typeface="Cambria Math" charset="0"/>
                        <a:ea typeface="Times" charset="0"/>
                        <a:cs typeface="Times" charset="0"/>
                      </a:rPr>
                      <m:t>−1</m:t>
                    </m:r>
                  </m:oMath>
                </a14:m>
                <a:r>
                  <a:rPr lang="en-US" sz="1600" b="0" dirty="0" smtClean="0">
                    <a:latin typeface="Times" charset="0"/>
                    <a:ea typeface="Times" charset="0"/>
                    <a:cs typeface="Times" charset="0"/>
                  </a:rPr>
                  <a:t> comparators for N-bit output</a:t>
                </a: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77" y="5559915"/>
                <a:ext cx="6900992" cy="584775"/>
              </a:xfrm>
              <a:prstGeom prst="rect">
                <a:avLst/>
              </a:prstGeom>
              <a:blipFill rotWithShape="0">
                <a:blip r:embed="rId3"/>
                <a:stretch>
                  <a:fillRect l="-353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339548" y="1162049"/>
            <a:ext cx="2104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" charset="0"/>
                <a:ea typeface="Times" charset="0"/>
                <a:cs typeface="Times" charset="0"/>
              </a:rPr>
              <a:t>example of 2-bit </a:t>
            </a:r>
            <a:r>
              <a:rPr lang="en-US" sz="1400" dirty="0" err="1" smtClean="0">
                <a:latin typeface="Times" charset="0"/>
                <a:ea typeface="Times" charset="0"/>
                <a:cs typeface="Times" charset="0"/>
              </a:rPr>
              <a:t>quantizer</a:t>
            </a:r>
            <a:endParaRPr lang="en-US" sz="1400" dirty="0"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51240" y="1506104"/>
            <a:ext cx="538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0.3V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47052" y="167513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47052" y="288764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47051" y="3978153"/>
            <a:ext cx="2744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2909" y="241783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682908" y="3670376"/>
            <a:ext cx="2744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51240" y="1505994"/>
            <a:ext cx="53893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0.7V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47051" y="2886197"/>
            <a:ext cx="274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82908" y="2428550"/>
            <a:ext cx="274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2908" y="3681096"/>
            <a:ext cx="274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Times" charset="0"/>
                <a:ea typeface="Times" charset="0"/>
                <a:cs typeface="Times" charset="0"/>
              </a:rPr>
              <a:t>0</a:t>
            </a:r>
            <a:endParaRPr lang="en-US" sz="1400" dirty="0">
              <a:solidFill>
                <a:srgbClr val="FF0000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55600" y="6550223"/>
            <a:ext cx="366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latin typeface="Times" charset="0"/>
                <a:ea typeface="Times" charset="0"/>
                <a:cs typeface="Times" charset="0"/>
              </a:rPr>
              <a:t>*adapted from </a:t>
            </a:r>
            <a:r>
              <a:rPr lang="en-US" sz="1400" dirty="0">
                <a:latin typeface="Times" charset="0"/>
                <a:ea typeface="Times" charset="0"/>
                <a:cs typeface="Times" charset="0"/>
              </a:rPr>
              <a:t>course notes by D.C. Munson, Jr.</a:t>
            </a:r>
          </a:p>
        </p:txBody>
      </p:sp>
    </p:spTree>
    <p:extLst>
      <p:ext uri="{BB962C8B-B14F-4D97-AF65-F5344CB8AC3E}">
        <p14:creationId xmlns:p14="http://schemas.microsoft.com/office/powerpoint/2010/main" val="107255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37" grpId="0"/>
      <p:bldP spid="38" grpId="0"/>
      <p:bldP spid="41" grpId="0"/>
      <p:bldP spid="42" grpId="0"/>
      <p:bldP spid="43" grpId="0" animBg="1"/>
      <p:bldP spid="44" grpId="0" animBg="1"/>
      <p:bldP spid="45" grpId="0" animBg="1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9900" y="611967"/>
            <a:ext cx="1643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" charset="0"/>
                <a:ea typeface="Times" charset="0"/>
                <a:cs typeface="Times" charset="0"/>
              </a:rPr>
              <a:t>D/A converter</a:t>
            </a:r>
            <a:endParaRPr lang="en-US" sz="2000" dirty="0"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65876" y="1264223"/>
            <a:ext cx="7632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600" dirty="0" smtClean="0">
                <a:latin typeface="Times" charset="0"/>
                <a:ea typeface="Times" charset="0"/>
                <a:cs typeface="Times" charset="0"/>
              </a:rPr>
              <a:t>As we saw, D/A consists of Zero Order Hold followed </a:t>
            </a:r>
            <a:r>
              <a:rPr lang="en-US" sz="1600" smtClean="0">
                <a:latin typeface="Times" charset="0"/>
                <a:ea typeface="Times" charset="0"/>
                <a:cs typeface="Times" charset="0"/>
              </a:rPr>
              <a:t>by analog compensator </a:t>
            </a:r>
            <a:r>
              <a:rPr lang="en-US" sz="1600" dirty="0" smtClean="0">
                <a:latin typeface="Times" charset="0"/>
                <a:ea typeface="Times" charset="0"/>
                <a:cs typeface="Times" charset="0"/>
              </a:rPr>
              <a:t>filter</a:t>
            </a:r>
            <a:endParaRPr lang="en-US" sz="1600" b="0" u="sng" dirty="0" smtClean="0"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78687" y="5325756"/>
            <a:ext cx="690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600" dirty="0" smtClean="0">
                <a:latin typeface="Times" charset="0"/>
                <a:ea typeface="Times" charset="0"/>
                <a:cs typeface="Times" charset="0"/>
              </a:rPr>
              <a:t>Zero Order Hold can be implemented with a </a:t>
            </a:r>
            <a:r>
              <a:rPr lang="en-US" sz="1600" u="sng" dirty="0" smtClean="0">
                <a:latin typeface="Times" charset="0"/>
                <a:ea typeface="Times" charset="0"/>
                <a:cs typeface="Times" charset="0"/>
              </a:rPr>
              <a:t>resistor ladder</a:t>
            </a:r>
            <a:endParaRPr lang="en-US" sz="1600" b="0" u="sng" dirty="0" smtClean="0">
              <a:latin typeface="Times" charset="0"/>
              <a:ea typeface="Times" charset="0"/>
              <a:cs typeface="Times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722688" y="2364488"/>
            <a:ext cx="38129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96505" y="2135888"/>
            <a:ext cx="665922" cy="496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" charset="0"/>
                <a:ea typeface="Times" charset="0"/>
                <a:cs typeface="Times" charset="0"/>
              </a:rPr>
              <a:t>ZOH</a:t>
            </a:r>
            <a:endParaRPr lang="en-US" dirty="0"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92824" y="2135888"/>
            <a:ext cx="835536" cy="496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latin typeface="Times" charset="0"/>
                <a:ea typeface="Times" charset="0"/>
                <a:cs typeface="Times" charset="0"/>
              </a:rPr>
              <a:t>F</a:t>
            </a:r>
            <a:r>
              <a:rPr lang="en-US" dirty="0" smtClean="0">
                <a:latin typeface="Times" charset="0"/>
                <a:ea typeface="Times" charset="0"/>
                <a:cs typeface="Times" charset="0"/>
              </a:rPr>
              <a:t>(</a:t>
            </a:r>
            <a:r>
              <a:rPr lang="en-US" dirty="0" err="1" smtClean="0">
                <a:latin typeface="Times" charset="0"/>
                <a:ea typeface="Times" charset="0"/>
                <a:cs typeface="Times" charset="0"/>
              </a:rPr>
              <a:t>Ω</a:t>
            </a:r>
            <a:r>
              <a:rPr lang="en-US" dirty="0" smtClean="0">
                <a:latin typeface="Times" charset="0"/>
                <a:ea typeface="Times" charset="0"/>
                <a:cs typeface="Times" charset="0"/>
              </a:rPr>
              <a:t>)</a:t>
            </a:r>
            <a:endParaRPr lang="en-US" i="1" dirty="0">
              <a:latin typeface="Times" charset="0"/>
              <a:ea typeface="Times" charset="0"/>
              <a:cs typeface="Times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026236" y="2150798"/>
                <a:ext cx="673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  <a:ea typeface="Times" charset="0"/>
                          <a:cs typeface="Times" charset="0"/>
                        </a:rPr>
                        <m:t>𝑦</m:t>
                      </m:r>
                      <m:r>
                        <a:rPr lang="en-US" b="0" i="1" smtClean="0">
                          <a:latin typeface="Cambria Math" charset="0"/>
                          <a:ea typeface="Times" charset="0"/>
                          <a:cs typeface="Times" charset="0"/>
                        </a:rPr>
                        <m:t>[</m:t>
                      </m:r>
                      <m:r>
                        <a:rPr lang="en-US" b="0" i="1" smtClean="0">
                          <a:latin typeface="Cambria Math" charset="0"/>
                          <a:ea typeface="Times" charset="0"/>
                          <a:cs typeface="Times" charset="0"/>
                        </a:rPr>
                        <m:t>𝑛</m:t>
                      </m:r>
                      <m:r>
                        <a:rPr lang="en-US" b="0" i="1" smtClean="0">
                          <a:latin typeface="Cambria Math" charset="0"/>
                          <a:ea typeface="Times" charset="0"/>
                          <a:cs typeface="Times" charset="0"/>
                        </a:rPr>
                        <m:t>]</m:t>
                      </m:r>
                    </m:oMath>
                  </m:oMathPara>
                </a14:m>
                <a:endParaRPr lang="en-US" dirty="0">
                  <a:latin typeface="Times" charset="0"/>
                  <a:ea typeface="Times" charset="0"/>
                  <a:cs typeface="Times" charset="0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236" y="2150798"/>
                <a:ext cx="673518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151625" y="1951222"/>
                <a:ext cx="7403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charset="0"/>
                              <a:ea typeface="Times" charset="0"/>
                              <a:cs typeface="Times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charset="0"/>
                                  <a:ea typeface="Times" charset="0"/>
                                  <a:cs typeface="Times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Times" charset="0"/>
                                  <a:cs typeface="Times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Times" charset="0"/>
                                  <a:cs typeface="Times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charset="0"/>
                              <a:ea typeface="Times" charset="0"/>
                              <a:cs typeface="Times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  <a:ea typeface="Times" charset="0"/>
                              <a:cs typeface="Times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Times" charset="0"/>
                  <a:ea typeface="Times" charset="0"/>
                  <a:cs typeface="Times" charset="0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625" y="1951222"/>
                <a:ext cx="74039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6576489" y="2162744"/>
                <a:ext cx="7520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charset="0"/>
                              <a:ea typeface="Times" charset="0"/>
                              <a:cs typeface="Times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  <a:ea typeface="Times" charset="0"/>
                              <a:cs typeface="Times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  <a:ea typeface="Times" charset="0"/>
                              <a:cs typeface="Times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charset="0"/>
                              <a:ea typeface="Times" charset="0"/>
                              <a:cs typeface="Times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  <a:ea typeface="Times" charset="0"/>
                              <a:cs typeface="Times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Times" charset="0"/>
                  <a:ea typeface="Times" charset="0"/>
                  <a:cs typeface="Times" charset="0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489" y="2162744"/>
                <a:ext cx="752001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880053" y="3097030"/>
            <a:ext cx="2927673" cy="1571143"/>
            <a:chOff x="2687788" y="3067711"/>
            <a:chExt cx="2927673" cy="157114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7788" y="3588100"/>
              <a:ext cx="2927673" cy="1050754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3511544" y="3067711"/>
              <a:ext cx="130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>
                  <a:latin typeface="Times" charset="0"/>
                  <a:ea typeface="Times" charset="0"/>
                  <a:cs typeface="Times" charset="0"/>
                </a:rPr>
                <a:t>ZOH output</a:t>
              </a:r>
              <a:endParaRPr lang="en-US">
                <a:latin typeface="Times" charset="0"/>
                <a:ea typeface="Times" charset="0"/>
                <a:cs typeface="Times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555600" y="6550223"/>
            <a:ext cx="366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latin typeface="Times" charset="0"/>
                <a:ea typeface="Times" charset="0"/>
                <a:cs typeface="Times" charset="0"/>
              </a:rPr>
              <a:t>*adapted from </a:t>
            </a:r>
            <a:r>
              <a:rPr lang="en-US" sz="1400" dirty="0">
                <a:latin typeface="Times" charset="0"/>
                <a:ea typeface="Times" charset="0"/>
                <a:cs typeface="Times" charset="0"/>
              </a:rPr>
              <a:t>course notes by D.C. Munson, Jr.</a:t>
            </a:r>
          </a:p>
        </p:txBody>
      </p:sp>
    </p:spTree>
    <p:extLst>
      <p:ext uri="{BB962C8B-B14F-4D97-AF65-F5344CB8AC3E}">
        <p14:creationId xmlns:p14="http://schemas.microsoft.com/office/powerpoint/2010/main" val="11391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9900" y="611967"/>
            <a:ext cx="3597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" charset="0"/>
                <a:ea typeface="Times" charset="0"/>
                <a:cs typeface="Times" charset="0"/>
              </a:rPr>
              <a:t>Zero Order Hold (resistor ladder)</a:t>
            </a:r>
            <a:endParaRPr lang="en-US" sz="2000" dirty="0">
              <a:latin typeface="Times" charset="0"/>
              <a:ea typeface="Times" charset="0"/>
              <a:cs typeface="Times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1" y="1455157"/>
            <a:ext cx="6335920" cy="32844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195745" y="4879784"/>
                <a:ext cx="69009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B</a:t>
                </a:r>
                <a:r>
                  <a:rPr lang="en-US" sz="1600" baseline="-25000" dirty="0" smtClean="0">
                    <a:latin typeface="Times" charset="0"/>
                    <a:ea typeface="Times" charset="0"/>
                    <a:cs typeface="Times" charset="0"/>
                  </a:rPr>
                  <a:t>0</a:t>
                </a: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 B</a:t>
                </a:r>
                <a:r>
                  <a:rPr lang="en-US" sz="1600" baseline="-25000" dirty="0">
                    <a:latin typeface="Times" charset="0"/>
                    <a:ea typeface="Times" charset="0"/>
                    <a:cs typeface="Times" charset="0"/>
                  </a:rPr>
                  <a:t>1</a:t>
                </a: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 B</a:t>
                </a:r>
                <a:r>
                  <a:rPr lang="en-US" sz="1600" baseline="-25000" dirty="0">
                    <a:latin typeface="Times" charset="0"/>
                    <a:ea typeface="Times" charset="0"/>
                    <a:cs typeface="Times" charset="0"/>
                  </a:rPr>
                  <a:t>2</a:t>
                </a:r>
                <a:r>
                  <a:rPr lang="is-IS" sz="1600" dirty="0" smtClean="0">
                    <a:latin typeface="Times" charset="0"/>
                    <a:ea typeface="Times" charset="0"/>
                    <a:cs typeface="Times" charset="0"/>
                  </a:rPr>
                  <a:t>…</a:t>
                </a: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 B</a:t>
                </a:r>
                <a:r>
                  <a:rPr lang="en-US" sz="1600" baseline="-25000" dirty="0" smtClean="0">
                    <a:latin typeface="Times" charset="0"/>
                    <a:ea typeface="Times" charset="0"/>
                    <a:cs typeface="Times" charset="0"/>
                  </a:rPr>
                  <a:t>N-1</a:t>
                </a: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 is the binary representation of y[n]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Using KCL, can show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V</m:t>
                        </m:r>
                      </m:e>
                      <m:sub>
                        <m: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latin typeface="Cambria Math" charset="0"/>
                        <a:ea typeface="Times" charset="0"/>
                        <a:cs typeface="Times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𝑁</m:t>
                            </m:r>
                            <m:r>
                              <a:rPr lang="en-US" sz="1600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−1−</m:t>
                            </m:r>
                            <m:r>
                              <a:rPr lang="en-US" sz="1600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N</m:t>
                        </m:r>
                        <m:r>
                          <a:rPr lang="en-US" sz="1600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1600" dirty="0" smtClean="0">
                  <a:latin typeface="Times" charset="0"/>
                  <a:ea typeface="Times" charset="0"/>
                  <a:cs typeface="Times" charset="0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1600" dirty="0" smtClean="0">
                    <a:latin typeface="Times" charset="0"/>
                    <a:ea typeface="Times" charset="0"/>
                    <a:cs typeface="Times" charset="0"/>
                  </a:rPr>
                  <a:t>Can also show that</a:t>
                </a:r>
                <a:endParaRPr lang="en-US" sz="1600" dirty="0">
                  <a:latin typeface="Times" charset="0"/>
                  <a:ea typeface="Times" charset="0"/>
                  <a:cs typeface="Times" charset="0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745" y="4879784"/>
                <a:ext cx="6900992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353" t="-5839" b="-16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2381258" y="1402165"/>
            <a:ext cx="453970" cy="307777"/>
            <a:chOff x="2381258" y="1402165"/>
            <a:chExt cx="453970" cy="307777"/>
          </a:xfrm>
        </p:grpSpPr>
        <p:sp>
          <p:nvSpPr>
            <p:cNvPr id="4" name="Rectangle 3"/>
            <p:cNvSpPr/>
            <p:nvPr/>
          </p:nvSpPr>
          <p:spPr>
            <a:xfrm>
              <a:off x="2467778" y="1455157"/>
              <a:ext cx="280930" cy="2359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Rectangle 2"/>
                <p:cNvSpPr/>
                <p:nvPr/>
              </p:nvSpPr>
              <p:spPr>
                <a:xfrm>
                  <a:off x="2381258" y="1402165"/>
                  <a:ext cx="453970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Times" charset="0"/>
                          <a:cs typeface="Times" charset="0"/>
                        </a:rPr>
                        <m:t>1</m:t>
                      </m:r>
                    </m:oMath>
                  </a14:m>
                  <a:r>
                    <a:rPr lang="en-US" sz="1400" dirty="0" smtClean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1400" dirty="0" smtClean="0">
                      <a:solidFill>
                        <a:srgbClr val="FF0000"/>
                      </a:solidFill>
                      <a:latin typeface="Times" charset="0"/>
                      <a:ea typeface="Times" charset="0"/>
                      <a:cs typeface="Times" charset="0"/>
                    </a:rPr>
                    <a:t>V</a:t>
                  </a:r>
                  <a:endParaRPr lang="en-US" sz="1400" dirty="0">
                    <a:solidFill>
                      <a:srgbClr val="FF0000"/>
                    </a:solidFill>
                    <a:latin typeface="Times" charset="0"/>
                    <a:ea typeface="Times" charset="0"/>
                    <a:cs typeface="Times" charset="0"/>
                  </a:endParaRPr>
                </a:p>
              </p:txBody>
            </p:sp>
          </mc:Choice>
          <mc:Fallback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258" y="1402165"/>
                  <a:ext cx="453970" cy="30777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5882" r="-4054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/>
          <p:cNvGrpSpPr/>
          <p:nvPr/>
        </p:nvGrpSpPr>
        <p:grpSpPr>
          <a:xfrm>
            <a:off x="3253212" y="1399834"/>
            <a:ext cx="590226" cy="307778"/>
            <a:chOff x="2381258" y="1383311"/>
            <a:chExt cx="590226" cy="307778"/>
          </a:xfrm>
        </p:grpSpPr>
        <p:sp>
          <p:nvSpPr>
            <p:cNvPr id="30" name="Rectangle 29"/>
            <p:cNvSpPr/>
            <p:nvPr/>
          </p:nvSpPr>
          <p:spPr>
            <a:xfrm>
              <a:off x="2467778" y="1455157"/>
              <a:ext cx="280930" cy="2359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Rectangle 30"/>
                <p:cNvSpPr/>
                <p:nvPr/>
              </p:nvSpPr>
              <p:spPr>
                <a:xfrm>
                  <a:off x="2381258" y="1383311"/>
                  <a:ext cx="59022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Times" charset="0"/>
                          <a:cs typeface="Times" charset="0"/>
                        </a:rPr>
                        <m:t>0.5</m:t>
                      </m:r>
                    </m:oMath>
                  </a14:m>
                  <a:r>
                    <a:rPr lang="en-US" sz="1400" dirty="0" smtClean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1400" dirty="0" smtClean="0">
                      <a:solidFill>
                        <a:srgbClr val="FF0000"/>
                      </a:solidFill>
                      <a:latin typeface="Times" charset="0"/>
                      <a:ea typeface="Times" charset="0"/>
                      <a:cs typeface="Times" charset="0"/>
                    </a:rPr>
                    <a:t>V</a:t>
                  </a:r>
                  <a:endParaRPr lang="en-US" sz="1400" dirty="0">
                    <a:solidFill>
                      <a:srgbClr val="FF0000"/>
                    </a:solidFill>
                    <a:latin typeface="Times" charset="0"/>
                    <a:ea typeface="Times" charset="0"/>
                    <a:cs typeface="Times" charset="0"/>
                  </a:endParaRPr>
                </a:p>
              </p:txBody>
            </p:sp>
          </mc:Choice>
          <mc:Fallback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258" y="1383311"/>
                  <a:ext cx="590226" cy="30777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t="-6000" r="-3125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/>
          <p:cNvGrpSpPr/>
          <p:nvPr/>
        </p:nvGrpSpPr>
        <p:grpSpPr>
          <a:xfrm>
            <a:off x="4178833" y="1399833"/>
            <a:ext cx="689612" cy="307778"/>
            <a:chOff x="2381258" y="1383311"/>
            <a:chExt cx="689612" cy="307778"/>
          </a:xfrm>
        </p:grpSpPr>
        <p:sp>
          <p:nvSpPr>
            <p:cNvPr id="34" name="Rectangle 33"/>
            <p:cNvSpPr/>
            <p:nvPr/>
          </p:nvSpPr>
          <p:spPr>
            <a:xfrm>
              <a:off x="2467778" y="1455157"/>
              <a:ext cx="280930" cy="2359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Rectangle 34"/>
                <p:cNvSpPr/>
                <p:nvPr/>
              </p:nvSpPr>
              <p:spPr>
                <a:xfrm>
                  <a:off x="2381258" y="1383311"/>
                  <a:ext cx="68961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charset="0"/>
                          <a:ea typeface="Times" charset="0"/>
                          <a:cs typeface="Times" charset="0"/>
                        </a:rPr>
                        <m:t>0.25</m:t>
                      </m:r>
                    </m:oMath>
                  </a14:m>
                  <a:r>
                    <a:rPr lang="en-US" sz="1400" dirty="0" smtClean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1400" dirty="0" smtClean="0">
                      <a:solidFill>
                        <a:srgbClr val="FF0000"/>
                      </a:solidFill>
                      <a:latin typeface="Times" charset="0"/>
                      <a:ea typeface="Times" charset="0"/>
                      <a:cs typeface="Times" charset="0"/>
                    </a:rPr>
                    <a:t>V</a:t>
                  </a:r>
                  <a:endParaRPr lang="en-US" sz="1400" dirty="0">
                    <a:solidFill>
                      <a:srgbClr val="FF0000"/>
                    </a:solidFill>
                    <a:latin typeface="Times" charset="0"/>
                    <a:ea typeface="Times" charset="0"/>
                    <a:cs typeface="Times" charset="0"/>
                  </a:endParaRPr>
                </a:p>
              </p:txBody>
            </p:sp>
          </mc:Choice>
          <mc:Fallback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258" y="1383311"/>
                  <a:ext cx="689612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t="-6000" r="-1770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/>
          <p:cNvGrpSpPr/>
          <p:nvPr/>
        </p:nvGrpSpPr>
        <p:grpSpPr>
          <a:xfrm>
            <a:off x="5694263" y="1383310"/>
            <a:ext cx="937372" cy="316690"/>
            <a:chOff x="2381258" y="1383311"/>
            <a:chExt cx="937372" cy="316690"/>
          </a:xfrm>
        </p:grpSpPr>
        <p:sp>
          <p:nvSpPr>
            <p:cNvPr id="37" name="Rectangle 36"/>
            <p:cNvSpPr/>
            <p:nvPr/>
          </p:nvSpPr>
          <p:spPr>
            <a:xfrm>
              <a:off x="2467777" y="1455156"/>
              <a:ext cx="431267" cy="2359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Rectangle 37"/>
                <p:cNvSpPr/>
                <p:nvPr/>
              </p:nvSpPr>
              <p:spPr>
                <a:xfrm>
                  <a:off x="2381258" y="1383311"/>
                  <a:ext cx="937372" cy="3166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Times" charset="0"/>
                              <a:cs typeface="Times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Times" charset="0"/>
                              <a:cs typeface="Times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Times" charset="0"/>
                              <a:cs typeface="Times" charset="0"/>
                            </a:rPr>
                            <m:t>−(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Times" charset="0"/>
                              <a:cs typeface="Times" charset="0"/>
                            </a:rPr>
                            <m:t>𝑁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Times" charset="0"/>
                              <a:cs typeface="Times" charset="0"/>
                            </a:rPr>
                            <m:t>−1)</m:t>
                          </m:r>
                        </m:sup>
                      </m:sSup>
                    </m:oMath>
                  </a14:m>
                  <a:r>
                    <a:rPr lang="en-US" sz="1400" dirty="0" smtClean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1400" dirty="0" smtClean="0">
                      <a:solidFill>
                        <a:srgbClr val="FF0000"/>
                      </a:solidFill>
                      <a:latin typeface="Times" charset="0"/>
                      <a:ea typeface="Times" charset="0"/>
                      <a:cs typeface="Times" charset="0"/>
                    </a:rPr>
                    <a:t>V</a:t>
                  </a:r>
                  <a:endParaRPr lang="en-US" sz="1400" dirty="0">
                    <a:solidFill>
                      <a:srgbClr val="FF0000"/>
                    </a:solidFill>
                    <a:latin typeface="Times" charset="0"/>
                    <a:ea typeface="Times" charset="0"/>
                    <a:cs typeface="Times" charset="0"/>
                  </a:endParaRPr>
                </a:p>
              </p:txBody>
            </p:sp>
          </mc:Choice>
          <mc:Fallback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258" y="1383311"/>
                  <a:ext cx="937372" cy="31669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1923" r="-1299" b="-173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1601749" y="5737675"/>
                <a:ext cx="4603504" cy="538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Times" charset="0"/>
                    <a:ea typeface="Times" charset="0"/>
                    <a:cs typeface="Times" charset="0"/>
                  </a:rPr>
                  <a:t>V</a:t>
                </a:r>
                <a:r>
                  <a:rPr lang="en-US" baseline="-25000" dirty="0" err="1" smtClean="0">
                    <a:latin typeface="Times" charset="0"/>
                    <a:ea typeface="Times" charset="0"/>
                    <a:cs typeface="Times" charset="0"/>
                  </a:rPr>
                  <a:t>out</a:t>
                </a:r>
                <a:r>
                  <a:rPr lang="en-US" dirty="0" smtClean="0">
                    <a:latin typeface="Times" charset="0"/>
                    <a:ea typeface="Times" charset="0"/>
                    <a:cs typeface="Times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bg-BG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charset="0"/>
                                    <a:ea typeface="Times" charset="0"/>
                                    <a:cs typeface="Times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charset="0"/>
                                    <a:ea typeface="Times" charset="0"/>
                                    <a:cs typeface="Times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charset="0"/>
                                    <a:ea typeface="Times" charset="0"/>
                                    <a:cs typeface="Times" charset="0"/>
                                  </a:rPr>
                                  <m:t>𝑓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charset="0"/>
                                    <a:ea typeface="Times" charset="0"/>
                                    <a:cs typeface="Times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charset="0"/>
                                    <a:ea typeface="Times" charset="0"/>
                                    <a:cs typeface="Times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charset="0"/>
                                    <a:ea typeface="Times" charset="0"/>
                                    <a:cs typeface="Times" charset="0"/>
                                  </a:rPr>
                                  <m:t>𝑁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  <a:ea typeface="Times" charset="0"/>
                                    <a:cs typeface="Times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𝑅</m:t>
                            </m:r>
                          </m:den>
                        </m:f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is-IS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−1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−2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  <a:ea typeface="Times" charset="0"/>
                            <a:cs typeface="Times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  <a:ea typeface="Times" charset="0"/>
                                <a:cs typeface="Times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  <a:ea typeface="Times" charset="0"/>
                        <a:cs typeface="Times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749" y="5737675"/>
                <a:ext cx="4603504" cy="538802"/>
              </a:xfrm>
              <a:prstGeom prst="rect">
                <a:avLst/>
              </a:prstGeom>
              <a:blipFill rotWithShape="0">
                <a:blip r:embed="rId8"/>
                <a:stretch>
                  <a:fillRect l="-1192" t="-50562" b="-66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3189982" y="6189822"/>
            <a:ext cx="2692883" cy="538801"/>
            <a:chOff x="3983355" y="6162928"/>
            <a:chExt cx="2692883" cy="538801"/>
          </a:xfrm>
        </p:grpSpPr>
        <p:sp>
          <p:nvSpPr>
            <p:cNvPr id="9" name="TextBox 8"/>
            <p:cNvSpPr txBox="1"/>
            <p:nvPr/>
          </p:nvSpPr>
          <p:spPr>
            <a:xfrm>
              <a:off x="5064837" y="6332397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Times" charset="0"/>
                  <a:ea typeface="Times" charset="0"/>
                  <a:cs typeface="Times" charset="0"/>
                </a:rPr>
                <a:t>y[n]</a:t>
              </a:r>
              <a:endParaRPr lang="en-US" dirty="0">
                <a:latin typeface="Times" charset="0"/>
                <a:ea typeface="Times" charset="0"/>
                <a:cs typeface="Times" charset="0"/>
              </a:endParaRPr>
            </a:p>
          </p:txBody>
        </p:sp>
        <p:sp>
          <p:nvSpPr>
            <p:cNvPr id="10" name="Left Brace 9"/>
            <p:cNvSpPr/>
            <p:nvPr/>
          </p:nvSpPr>
          <p:spPr>
            <a:xfrm rot="16200000">
              <a:off x="5232705" y="4913578"/>
              <a:ext cx="194184" cy="2692883"/>
            </a:xfrm>
            <a:prstGeom prst="leftBrace">
              <a:avLst>
                <a:gd name="adj1" fmla="val 51929"/>
                <a:gd name="adj2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5555600" y="6550223"/>
            <a:ext cx="3664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latin typeface="Times" charset="0"/>
                <a:ea typeface="Times" charset="0"/>
                <a:cs typeface="Times" charset="0"/>
              </a:rPr>
              <a:t>*adapted from </a:t>
            </a:r>
            <a:r>
              <a:rPr lang="en-US" sz="1400" dirty="0">
                <a:latin typeface="Times" charset="0"/>
                <a:ea typeface="Times" charset="0"/>
                <a:cs typeface="Times" charset="0"/>
              </a:rPr>
              <a:t>course notes by D.C. Munson, Jr.</a:t>
            </a:r>
          </a:p>
        </p:txBody>
      </p:sp>
    </p:spTree>
    <p:extLst>
      <p:ext uri="{BB962C8B-B14F-4D97-AF65-F5344CB8AC3E}">
        <p14:creationId xmlns:p14="http://schemas.microsoft.com/office/powerpoint/2010/main" val="163747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5098</TotalTime>
  <Words>366</Words>
  <Application>Microsoft Macintosh PowerPoint</Application>
  <PresentationFormat>On-screen Show (4:3)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Calibri Light</vt:lpstr>
      <vt:lpstr>Cambria Math</vt:lpstr>
      <vt:lpstr>Times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23</cp:revision>
  <dcterms:created xsi:type="dcterms:W3CDTF">2018-12-07T04:52:34Z</dcterms:created>
  <dcterms:modified xsi:type="dcterms:W3CDTF">2018-12-10T17:50:35Z</dcterms:modified>
</cp:coreProperties>
</file>