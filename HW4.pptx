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0" r:id="rId3"/>
    <p:sldId id="257" r:id="rId4"/>
    <p:sldId id="258" r:id="rId5"/>
    <p:sldId id="259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67" y="2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1BE929A-DBF2-4504-A545-089099E50D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28AAA8FC-381E-4801-9100-E82E039437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B21F8EF-5C3A-48CF-B48B-6271230A43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8C09C-8FF1-4BB1-99E7-8D73366C2E7B}" type="datetimeFigureOut">
              <a:rPr lang="en-US" smtClean="0"/>
              <a:t>7/25/2019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6408A85-E6C4-492B-B155-42034684BA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E7CB72D-3DE5-4622-9AB6-E2253ECF31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41D11-5796-40F0-82BC-45A21E4797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14651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EAC5810-4BA5-4F1B-AC60-E52D897C40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B0915C4-0EB0-4DD0-B8E0-4C5B0B0537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71D8781-8FC1-4A76-B24F-94B35460BF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8C09C-8FF1-4BB1-99E7-8D73366C2E7B}" type="datetimeFigureOut">
              <a:rPr lang="en-US" smtClean="0"/>
              <a:t>7/25/2019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74ACAC1-5D7A-4BAE-BC58-C432FF6B01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3922D49-CC44-4EA4-8E88-545AF45EDC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41D11-5796-40F0-82BC-45A21E4797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32165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67A0BDA-F9FB-4FA1-A97C-02E00E96D2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7CA9D7A-02D1-4D5F-98FD-4D02D4D17D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A9A53B2-6264-4B14-A4EC-93D2FEEF38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8C09C-8FF1-4BB1-99E7-8D73366C2E7B}" type="datetimeFigureOut">
              <a:rPr lang="en-US" smtClean="0"/>
              <a:t>7/25/2019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A451238-0A6F-4BC5-936D-AF22C62C20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6EC2B4C-D27D-4E4E-B0C1-FC312021A3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41D11-5796-40F0-82BC-45A21E4797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33574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EC2ACAD-BF8D-487D-B5C0-1FA0F82198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B31EE6E-CE73-432C-BB69-A2B51C40434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EBF78C-A3AB-46D6-A91A-7244D58EC5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5AA724F-2335-4109-BDC4-E2F9A85164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8C09C-8FF1-4BB1-99E7-8D73366C2E7B}" type="datetimeFigureOut">
              <a:rPr lang="en-US" smtClean="0"/>
              <a:t>7/25/2019</a:t>
            </a:fld>
            <a:endParaRPr 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3716A5C-9C45-43A1-9ED6-8731A48D23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E60AFA5-6520-4BD6-BA72-62CDEDFF37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41D11-5796-40F0-82BC-45A21E4797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19294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E7DAE41-29AC-4B28-AB3E-CEDB2C5A6D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AEF5FB9-1D27-40A6-8A7B-6D424618EC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E98C411-8DC6-4443-A197-D2170C5006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6F754835-E8B4-49E7-BC92-45A87031991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F7D8E7E0-B091-4914-AE34-0BEB276B0B8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2CAB4D5F-42A3-4789-BC9A-C5225C4B40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8C09C-8FF1-4BB1-99E7-8D73366C2E7B}" type="datetimeFigureOut">
              <a:rPr lang="en-US" smtClean="0"/>
              <a:t>7/25/2019</a:t>
            </a:fld>
            <a:endParaRPr 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8E9C5113-0356-44D7-8FFD-283530C9C7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E7530B71-F692-435D-8738-68D22E872C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41D11-5796-40F0-82BC-45A21E4797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01827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7EE7D10-1998-48E0-8D27-4602DE466B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A402F63B-4A90-4A3F-84D8-D5F6E52BCE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8C09C-8FF1-4BB1-99E7-8D73366C2E7B}" type="datetimeFigureOut">
              <a:rPr lang="en-US" smtClean="0"/>
              <a:t>7/25/2019</a:t>
            </a:fld>
            <a:endParaRPr 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84EFD55E-02A3-411D-9CDE-BB3D3D55D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99D91C9-20FB-4329-810C-C1A1C7C315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41D11-5796-40F0-82BC-45A21E4797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9847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3203272D-D4AD-438C-82A3-22506B55AE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8C09C-8FF1-4BB1-99E7-8D73366C2E7B}" type="datetimeFigureOut">
              <a:rPr lang="en-US" smtClean="0"/>
              <a:t>7/25/2019</a:t>
            </a:fld>
            <a:endParaRPr 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38F6D1E-C70A-4ECD-8CEB-755978F901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2582293-2049-46B8-86F3-0F8633B2CD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41D11-5796-40F0-82BC-45A21E4797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92911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9E4C380-EDF7-45DC-A142-52CE7F9813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3487F20-5148-44CB-8840-969DBAA91E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10971A9-97A0-4446-B2A2-038EE22186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12E0B80-C0DF-44CB-B85C-D1CF721B0B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8C09C-8FF1-4BB1-99E7-8D73366C2E7B}" type="datetimeFigureOut">
              <a:rPr lang="en-US" smtClean="0"/>
              <a:t>7/25/2019</a:t>
            </a:fld>
            <a:endParaRPr 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9C77F01-09AE-48CB-AF35-45DAECF176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043C2F0-37B0-4823-A1B5-D264D456A3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41D11-5796-40F0-82BC-45A21E4797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78708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63CC4DF-18EE-46DA-9EB6-9D3C679F63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90999EEB-4FFC-4ECA-B1A3-06CB8ABCE91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EC71B58-826A-4716-8BF2-C665E688D8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CEDB0DE-26E5-4868-BB8B-453AB61B96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8C09C-8FF1-4BB1-99E7-8D73366C2E7B}" type="datetimeFigureOut">
              <a:rPr lang="en-US" smtClean="0"/>
              <a:t>7/25/2019</a:t>
            </a:fld>
            <a:endParaRPr 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C1F0232-5E5C-482A-B410-C4F29A08D7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CAD1E6D-3A43-4DCA-A847-7B7CE90053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41D11-5796-40F0-82BC-45A21E4797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99778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45B0656-B362-43FF-B691-875391F3AE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99A99D1-28CE-414F-8068-5E5C407540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319BCD5-FB7C-4957-8CEF-16BF431691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8C09C-8FF1-4BB1-99E7-8D73366C2E7B}" type="datetimeFigureOut">
              <a:rPr lang="en-US" smtClean="0"/>
              <a:t>7/25/2019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32AD8C2-C275-4E5F-A7BE-FFB38EC751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0C34D7C-3819-4002-90C6-987E265372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41D11-5796-40F0-82BC-45A21E4797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52602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C7C3723C-E03A-4A64-A353-235CDAEF61B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EC9022C-5531-4ED2-BA35-3E91EFD5AF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81E6A91-60A0-4C58-A3F3-E123DD3FBE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8C09C-8FF1-4BB1-99E7-8D73366C2E7B}" type="datetimeFigureOut">
              <a:rPr lang="en-US" smtClean="0"/>
              <a:t>7/25/2019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96ECABB-4200-48D1-8334-3A0BC1E096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18F4CBB-21E6-4283-A530-AE73CCBF71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41D11-5796-40F0-82BC-45A21E4797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8385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8D8DF062-A77D-48B8-B123-F3401CA682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376783D-2593-4A7C-BEA1-FB5F6F16C1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502E417-5B04-4C00-9686-82815A18AFC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68C09C-8FF1-4BB1-99E7-8D73366C2E7B}" type="datetimeFigureOut">
              <a:rPr lang="en-US" smtClean="0"/>
              <a:t>7/25/2019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C548E8A-06F6-470B-A774-B89FFF81414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DED4C31-D6FF-4D5F-9C8F-04BB4129E9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641D11-5796-40F0-82BC-45A21E4797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77508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2.png"/><Relationship Id="rId7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10" Type="http://schemas.openxmlformats.org/officeDocument/2006/relationships/image" Target="../media/image9.png"/><Relationship Id="rId14" Type="http://schemas.openxmlformats.org/officeDocument/2006/relationships/image" Target="../media/image1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5.png"/><Relationship Id="rId18" Type="http://schemas.openxmlformats.org/officeDocument/2006/relationships/image" Target="../media/image30.png"/><Relationship Id="rId21" Type="http://schemas.openxmlformats.org/officeDocument/2006/relationships/image" Target="../media/image33.png"/><Relationship Id="rId12" Type="http://schemas.openxmlformats.org/officeDocument/2006/relationships/image" Target="../media/image24.png"/><Relationship Id="rId17" Type="http://schemas.openxmlformats.org/officeDocument/2006/relationships/image" Target="../media/image29.png"/><Relationship Id="rId25" Type="http://schemas.openxmlformats.org/officeDocument/2006/relationships/image" Target="../media/image37.png"/><Relationship Id="rId16" Type="http://schemas.openxmlformats.org/officeDocument/2006/relationships/image" Target="../media/image28.png"/><Relationship Id="rId20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24" Type="http://schemas.openxmlformats.org/officeDocument/2006/relationships/image" Target="../media/image36.png"/><Relationship Id="rId15" Type="http://schemas.openxmlformats.org/officeDocument/2006/relationships/image" Target="../media/image27.png"/><Relationship Id="rId23" Type="http://schemas.openxmlformats.org/officeDocument/2006/relationships/image" Target="../media/image35.png"/><Relationship Id="rId19" Type="http://schemas.openxmlformats.org/officeDocument/2006/relationships/image" Target="../media/image31.png"/><Relationship Id="rId14" Type="http://schemas.openxmlformats.org/officeDocument/2006/relationships/image" Target="../media/image26.png"/><Relationship Id="rId22" Type="http://schemas.openxmlformats.org/officeDocument/2006/relationships/image" Target="../media/image3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0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FEA88C20-4C88-4B3C-BC98-61ECDB31E000}"/>
                  </a:ext>
                </a:extLst>
              </p:cNvPr>
              <p:cNvSpPr txBox="1"/>
              <p:nvPr/>
            </p:nvSpPr>
            <p:spPr>
              <a:xfrm>
                <a:off x="0" y="1905982"/>
                <a:ext cx="12072242" cy="53386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𝑛𝑎𝑚𝑒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:1 →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𝑛𝑎𝑚𝑒</m:t>
                              </m:r>
                            </m:sub>
                          </m:s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𝑛𝑎𝑚𝑒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:1, 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𝑑𝑒𝑝</m:t>
                              </m:r>
                              <m:sSub>
                                <m:sSubPr>
                                  <m:ctrlP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  <m:t>𝑛𝑎𝑚𝑒</m:t>
                                  </m:r>
                                </m:sub>
                              </m:sSub>
                            </m:sub>
                          </m:s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𝑠𝑎𝑙𝑎𝑟𝑦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 &gt; 75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 ∩ 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𝑡𝑜𝑡𝑎𝑙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𝑐𝑟𝑒𝑑𝑖𝑡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 &lt; 50</m:t>
                          </m:r>
                        </m:sub>
                      </m:sSub>
                    </m:oMath>
                  </m:oMathPara>
                </a14:m>
                <a:endParaRPr lang="en-US" sz="1600" b="0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𝑡𝑒𝑚𝑝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𝐼𝑛𝑠𝑡𝑟𝑢𝑐𝑡𝑜𝑟</m:t>
                        </m:r>
                        <m:sSub>
                          <m:sSub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⋈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𝐼𝑛𝑠𝑡𝑟𝑢𝑐𝑡𝑜𝑟</m:t>
                            </m:r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.</m:t>
                            </m:r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𝐼𝐷</m:t>
                            </m:r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𝑇𝑒𝑎𝑐h𝑒𝑠</m:t>
                            </m:r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.</m:t>
                            </m:r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𝐼𝐷</m:t>
                            </m:r>
                          </m:sub>
                        </m:s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𝑇𝑒𝑎𝑐h𝑒𝑠</m:t>
                        </m:r>
                      </m:e>
                    </m:d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⋈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𝑡𝑒𝑚𝑝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1.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𝑐𝑜𝑢𝑟𝑠𝑒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𝑖𝑑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𝑡𝑒𝑚𝑝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2.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𝑐𝑜𝑢𝑟𝑠𝑒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𝑖𝑑</m:t>
                        </m:r>
                      </m:sub>
                    </m:sSub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𝑡𝑒𝑚𝑝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𝑆𝑡𝑢𝑑𝑒𝑛𝑡</m:t>
                    </m:r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⋈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𝑆𝑡𝑢𝑑𝑒𝑛𝑡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𝐼𝐷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𝑇𝑎𝑘𝑒𝑠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𝐼𝐷</m:t>
                        </m:r>
                      </m:sub>
                    </m:sSub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𝑇𝑎𝑘𝑒𝑠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600" dirty="0"/>
                  <a:t> </a:t>
                </a:r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FEA88C20-4C88-4B3C-BC98-61ECDB31E0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1905982"/>
                <a:ext cx="12072242" cy="533864"/>
              </a:xfrm>
              <a:prstGeom prst="rect">
                <a:avLst/>
              </a:prstGeom>
              <a:blipFill>
                <a:blip r:embed="rId10"/>
                <a:stretch>
                  <a:fillRect l="-758" b="-114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BE8F619D-E123-4501-B694-DF5EF20BD191}"/>
                  </a:ext>
                </a:extLst>
              </p:cNvPr>
              <p:cNvSpPr txBox="1"/>
              <p:nvPr/>
            </p:nvSpPr>
            <p:spPr>
              <a:xfrm>
                <a:off x="-219456" y="3465527"/>
                <a:ext cx="13858024" cy="60959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𝑐𝑜𝑢𝑟𝑠𝑒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𝑖𝑑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𝑟𝑜𝑜𝑚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𝑛𝑢𝑚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𝑑𝑒𝑝𝑡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𝑛𝑎𝑚𝑒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&lt;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&gt;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𝐻𝑖𝑠𝑡𝑜𝑟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∩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𝐼𝐷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:1=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𝑡𝑒𝑚𝑝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4.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𝐼𝐷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𝐶𝑜𝑢𝑟𝑠𝑒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⋈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𝐶𝑜𝑢𝑟𝑠𝑒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𝐶𝑜𝑢𝑟𝑠𝑒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𝑖𝑑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𝑡𝑒𝑚𝑝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3.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𝑐𝑜𝑢𝑟𝑠𝑒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𝑖𝑑</m:t>
                          </m:r>
                        </m:sub>
                      </m:sSub>
                    </m:oMath>
                  </m:oMathPara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𝜌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𝑡𝑒𝑚𝑝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𝜌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𝑡𝑒𝑚𝑝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𝐼𝑛𝑠𝑡𝑟𝑢𝑐𝑡𝑜𝑟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⋈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𝐼𝑛𝑠𝑡𝑟𝑢𝑐𝑡𝑜𝑟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𝐼𝐷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𝑇𝑒𝑎𝑐h𝑒𝑠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𝐼𝐷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𝑇𝑒𝑎𝑐h𝑒𝑠</m:t>
                          </m:r>
                        </m:e>
                      </m:d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⋈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𝑡𝑒𝑚𝑝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1.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𝑐𝑜𝑢𝑟𝑠𝑒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𝑖𝑑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𝑡𝑒𝑚𝑝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2.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𝑐𝑜𝑢𝑟𝑠𝑒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𝑖𝑑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𝜌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𝑡𝑒𝑚𝑝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𝑆𝑡𝑢𝑑𝑒𝑛𝑡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⋈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𝑆𝑡𝑢𝑑𝑒𝑛𝑡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𝐼𝐷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𝑇𝑎𝑘𝑒𝑠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𝐼𝐷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𝑇𝑎𝑘𝑒𝑠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)))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BE8F619D-E123-4501-B694-DF5EF20BD1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219456" y="3465527"/>
                <a:ext cx="13858024" cy="609590"/>
              </a:xfrm>
              <a:prstGeom prst="rect">
                <a:avLst/>
              </a:prstGeom>
              <a:blipFill>
                <a:blip r:embed="rId7"/>
                <a:stretch>
                  <a:fillRect r="-176" b="-12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ED42B4F7-93DA-4E20-BAE1-CB01EC3C2D58}"/>
                  </a:ext>
                </a:extLst>
              </p:cNvPr>
              <p:cNvSpPr txBox="1"/>
              <p:nvPr/>
            </p:nvSpPr>
            <p:spPr>
              <a:xfrm>
                <a:off x="4853888" y="6244437"/>
                <a:ext cx="7761227" cy="29841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𝑡𝑒𝑚𝑝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𝐼𝐷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:1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𝑐𝑟𝑒𝑑𝑖𝑡𝑠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=4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𝑇𝑒𝑎𝑐h𝑒𝑠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⋈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𝑇𝑒𝑎𝑐h𝑒𝑠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𝑐𝑜𝑢𝑟𝑠𝑒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𝑖𝑑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𝐶𝑜𝑢𝑟𝑠𝑒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𝑐𝑜𝑢𝑟𝑠𝑒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𝑖𝑑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𝐶𝑜𝑢𝑟𝑠𝑒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)))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ED42B4F7-93DA-4E20-BAE1-CB01EC3C2D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53888" y="6244437"/>
                <a:ext cx="7761227" cy="298415"/>
              </a:xfrm>
              <a:prstGeom prst="rect">
                <a:avLst/>
              </a:prstGeom>
              <a:blipFill>
                <a:blip r:embed="rId13"/>
                <a:stretch>
                  <a:fillRect l="-314" r="-707" b="-2653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DB687810-EF5E-4C65-BCF8-5F8723DFA364}"/>
                  </a:ext>
                </a:extLst>
              </p:cNvPr>
              <p:cNvSpPr txBox="1"/>
              <p:nvPr/>
            </p:nvSpPr>
            <p:spPr>
              <a:xfrm>
                <a:off x="1841214" y="4398166"/>
                <a:ext cx="7848302" cy="150483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𝑐𝑜𝑢𝑟𝑠𝑒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𝑖𝑑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, 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𝑟𝑜𝑜𝑚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𝑛𝑢𝑚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𝑡𝑒𝑚𝑝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𝜌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𝑡𝑒𝑚𝑝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𝑇𝑒𝑎𝑐h𝑒𝑠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⋈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𝑇𝑒𝑎𝑐h𝑒𝑠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𝑐𝑜𝑢𝑟𝑠𝑒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𝑖𝑑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𝑡𝑒𝑚𝑝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3.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𝑐𝑜𝑢𝑟𝑠𝑒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𝑖𝑑</m:t>
                          </m:r>
                        </m:sub>
                      </m:sSub>
                    </m:oMath>
                  </m:oMathPara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𝜌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𝑡𝑒𝑚𝑝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𝐶𝑜𝑢𝑟𝑠𝑒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⋈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𝐶𝑜𝑢𝑟𝑠𝑒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𝑐𝑜𝑢𝑟𝑠𝑒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𝑖𝑑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𝑡𝑒𝑚𝑝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2.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𝑐𝑜𝑢𝑟𝑠𝑒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𝑖𝑑</m:t>
                          </m:r>
                        </m:sub>
                      </m:sSub>
                    </m:oMath>
                  </m:oMathPara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𝑡𝑒𝑚𝑝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𝑑𝑒𝑝𝑡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𝑛𝑎𝑚𝑒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&lt;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&gt;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𝐻𝑖𝑠𝑡𝑜𝑟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𝑆𝑡𝑢𝑑𝑒𝑛𝑡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⋈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𝑆𝑡𝑢𝑑𝑒𝑛𝑡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𝐼𝐷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𝑇𝑎𝑘𝑒𝑠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𝐼𝐷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𝑇𝑎𝑘𝑒𝑠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)))))</m:t>
                      </m:r>
                    </m:oMath>
                  </m:oMathPara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∩</m:t>
                      </m:r>
                    </m:oMath>
                  </m:oMathPara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𝑡𝑒𝑚𝑝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𝐼𝐷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:1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𝑐𝑟𝑒𝑑𝑖𝑡𝑠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=4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𝑇𝑒𝑎𝑐h𝑒𝑠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⋈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𝑇𝑒𝑎𝑐h𝑒𝑠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𝑐𝑜𝑢𝑟𝑠𝑒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𝑖𝑑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𝐶𝑜𝑢𝑟𝑠𝑒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𝑐𝑜𝑢𝑟𝑠𝑒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𝑖𝑑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𝐶𝑜𝑢𝑟𝑠𝑒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))))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DB687810-EF5E-4C65-BCF8-5F8723DFA3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41214" y="4398166"/>
                <a:ext cx="7848302" cy="1504836"/>
              </a:xfrm>
              <a:prstGeom prst="rect">
                <a:avLst/>
              </a:prstGeom>
              <a:blipFill>
                <a:blip r:embed="rId14"/>
                <a:stretch>
                  <a:fillRect l="-311" r="-777" b="-283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815192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BCCD5B7E-028B-48FE-9DD5-7B37388901B7}"/>
                  </a:ext>
                </a:extLst>
              </p:cNvPr>
              <p:cNvSpPr txBox="1"/>
              <p:nvPr/>
            </p:nvSpPr>
            <p:spPr>
              <a:xfrm>
                <a:off x="1621410" y="1569563"/>
                <a:ext cx="9565759" cy="3021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𝑛𝑎𝑚𝑒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𝑑𝑒𝑝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𝑛𝑎𝑚𝑒</m:t>
                              </m:r>
                            </m:sub>
                          </m:sSub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𝑇𝑒𝑎𝑐h𝑒𝑠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⋈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𝑠𝑎𝑙𝑎𝑟𝑦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&gt;75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𝐼𝑛𝑠𝑡𝑟𝑢𝑐𝑡𝑜𝑟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⋈(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𝑐𝑜𝑢𝑟𝑠𝑒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𝑖𝑑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𝑇𝑎𝑘𝑒𝑠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⋈(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𝑐𝑟𝑒𝑑𝑖𝑡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&lt;50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𝑆𝑡𝑢𝑑𝑒𝑛𝑡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))))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BCCD5B7E-028B-48FE-9DD5-7B37388901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1410" y="1569563"/>
                <a:ext cx="9565759" cy="302199"/>
              </a:xfrm>
              <a:prstGeom prst="rect">
                <a:avLst/>
              </a:prstGeom>
              <a:blipFill>
                <a:blip r:embed="rId2"/>
                <a:stretch>
                  <a:fillRect r="-127" b="-24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矩形 4">
                <a:extLst>
                  <a:ext uri="{FF2B5EF4-FFF2-40B4-BE49-F238E27FC236}">
                    <a16:creationId xmlns:a16="http://schemas.microsoft.com/office/drawing/2014/main" id="{890F5D3F-DECE-4DE4-A162-50FA8AE4CFDA}"/>
                  </a:ext>
                </a:extLst>
              </p:cNvPr>
              <p:cNvSpPr/>
              <p:nvPr/>
            </p:nvSpPr>
            <p:spPr>
              <a:xfrm>
                <a:off x="1219200" y="2499722"/>
                <a:ext cx="8933468" cy="68980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𝑐𝑜𝑢𝑟𝑠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𝑖𝑑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𝑟𝑜𝑜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𝑛𝑢𝑚</m:t>
                              </m:r>
                            </m:sub>
                          </m:sSub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𝑇𝑒𝑎𝑐h𝑒𝑠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⋈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𝐶𝑜𝑢𝑟𝑠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∩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𝑐𝑜𝑢𝑟𝑠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𝑖𝑑</m:t>
                                  </m:r>
                                </m:sub>
                              </m:sSub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𝑑𝑒𝑝𝑡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𝑛𝑎𝑚𝑒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&lt;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&gt;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𝐻𝑖𝑠𝑡𝑜𝑟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𝑆𝑡𝑢𝑑𝑒𝑛𝑡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⋈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𝑇𝑎𝑘𝑒𝑠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))∩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𝑐𝑜𝑢𝑟𝑠𝑒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_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𝑖𝑑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𝑐𝑟𝑒𝑑𝑖𝑡𝑠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=4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𝑇𝑒𝑎𝑐h𝑒𝑠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⋈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𝐶𝑜𝑢𝑟𝑠𝑒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)))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5" name="矩形 4">
                <a:extLst>
                  <a:ext uri="{FF2B5EF4-FFF2-40B4-BE49-F238E27FC236}">
                    <a16:creationId xmlns:a16="http://schemas.microsoft.com/office/drawing/2014/main" id="{890F5D3F-DECE-4DE4-A162-50FA8AE4CFD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9200" y="2499722"/>
                <a:ext cx="8933468" cy="689804"/>
              </a:xfrm>
              <a:prstGeom prst="rect">
                <a:avLst/>
              </a:prstGeom>
              <a:blipFill>
                <a:blip r:embed="rId3"/>
                <a:stretch>
                  <a:fillRect b="-61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439478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26EAF4AB-8654-45D0-BB26-2B17414042BC}"/>
              </a:ext>
            </a:extLst>
          </p:cNvPr>
          <p:cNvSpPr txBox="1"/>
          <p:nvPr/>
        </p:nvSpPr>
        <p:spPr>
          <a:xfrm>
            <a:off x="342193" y="6506020"/>
            <a:ext cx="14356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Customer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63E40D8-8042-4C42-AFD5-1DD71132482C}"/>
              </a:ext>
            </a:extLst>
          </p:cNvPr>
          <p:cNvSpPr txBox="1"/>
          <p:nvPr/>
        </p:nvSpPr>
        <p:spPr>
          <a:xfrm>
            <a:off x="2665251" y="6506020"/>
            <a:ext cx="123565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Purchases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D539DB9-12FB-4CB1-B9DB-82D0684DEF52}"/>
              </a:ext>
            </a:extLst>
          </p:cNvPr>
          <p:cNvSpPr txBox="1"/>
          <p:nvPr/>
        </p:nvSpPr>
        <p:spPr>
          <a:xfrm>
            <a:off x="5925312" y="6183502"/>
            <a:ext cx="7366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Store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E921BC61-60FD-4CB1-804C-D2928CF5A49C}"/>
                  </a:ext>
                </a:extLst>
              </p:cNvPr>
              <p:cNvSpPr txBox="1"/>
              <p:nvPr/>
            </p:nvSpPr>
            <p:spPr>
              <a:xfrm>
                <a:off x="3225250" y="900933"/>
                <a:ext cx="1381917" cy="31797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𝐶𝑢𝑠𝑡𝑜𝑚𝑒𝑟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𝑖𝑑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E921BC61-60FD-4CB1-804C-D2928CF5A4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25250" y="900933"/>
                <a:ext cx="1381917" cy="317972"/>
              </a:xfrm>
              <a:prstGeom prst="rect">
                <a:avLst/>
              </a:prstGeom>
              <a:blipFill>
                <a:blip r:embed="rId12"/>
                <a:stretch>
                  <a:fillRect l="-1762" r="-1322" b="-153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083E08A6-7CA8-4C5C-B465-518DA2B691E5}"/>
              </a:ext>
            </a:extLst>
          </p:cNvPr>
          <p:cNvCxnSpPr>
            <a:cxnSpLocks/>
          </p:cNvCxnSpPr>
          <p:nvPr/>
        </p:nvCxnSpPr>
        <p:spPr>
          <a:xfrm flipV="1">
            <a:off x="776420" y="4968986"/>
            <a:ext cx="1111460" cy="7237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33854C67-FE08-460F-A50A-49236F9CE9B0}"/>
              </a:ext>
            </a:extLst>
          </p:cNvPr>
          <p:cNvCxnSpPr>
            <a:cxnSpLocks/>
          </p:cNvCxnSpPr>
          <p:nvPr/>
        </p:nvCxnSpPr>
        <p:spPr>
          <a:xfrm flipH="1" flipV="1">
            <a:off x="2295595" y="4939325"/>
            <a:ext cx="1069700" cy="73152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B515E95D-D3C4-4A4E-87BA-81ABDC7F6D3B}"/>
                  </a:ext>
                </a:extLst>
              </p:cNvPr>
              <p:cNvSpPr txBox="1"/>
              <p:nvPr/>
            </p:nvSpPr>
            <p:spPr>
              <a:xfrm>
                <a:off x="1638690" y="4642841"/>
                <a:ext cx="981364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⋈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1.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𝐶𝑢𝑠𝑡𝑜𝑚𝑒𝑟𝐼𝑑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1.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𝐶𝑢𝑠𝑡𝑜𝑚𝑒𝑟𝐼𝑑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B515E95D-D3C4-4A4E-87BA-81ABDC7F6D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8690" y="4642841"/>
                <a:ext cx="981364" cy="307777"/>
              </a:xfrm>
              <a:prstGeom prst="rect">
                <a:avLst/>
              </a:prstGeom>
              <a:blipFill>
                <a:blip r:embed="rId13"/>
                <a:stretch>
                  <a:fillRect l="-7453" r="-216770" b="-18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A9BF1FC2-0FC1-4738-8877-AF6F98589385}"/>
              </a:ext>
            </a:extLst>
          </p:cNvPr>
          <p:cNvCxnSpPr>
            <a:cxnSpLocks/>
          </p:cNvCxnSpPr>
          <p:nvPr/>
        </p:nvCxnSpPr>
        <p:spPr>
          <a:xfrm flipV="1">
            <a:off x="2186457" y="3682290"/>
            <a:ext cx="1520117" cy="26240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CFC92CB3-B934-4472-B96D-67AED07D97C1}"/>
                  </a:ext>
                </a:extLst>
              </p:cNvPr>
              <p:cNvSpPr txBox="1"/>
              <p:nvPr/>
            </p:nvSpPr>
            <p:spPr>
              <a:xfrm>
                <a:off x="3356212" y="3363557"/>
                <a:ext cx="981364" cy="33143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⋈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𝑡𝑒𝑚𝑝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1.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𝑆𝑡𝑜𝑟𝑒𝑁𝑎𝑚𝑒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1.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𝑆𝑡𝑜𝑟𝑒𝑁𝑎𝑚𝑒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CFC92CB3-B934-4472-B96D-67AED07D97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56212" y="3363557"/>
                <a:ext cx="981364" cy="331437"/>
              </a:xfrm>
              <a:prstGeom prst="rect">
                <a:avLst/>
              </a:prstGeom>
              <a:blipFill>
                <a:blip r:embed="rId14"/>
                <a:stretch>
                  <a:fillRect l="-7453" r="-239130" b="-259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E1D87CAA-04DE-44DD-9570-86845B0286DA}"/>
              </a:ext>
            </a:extLst>
          </p:cNvPr>
          <p:cNvCxnSpPr>
            <a:cxnSpLocks/>
          </p:cNvCxnSpPr>
          <p:nvPr/>
        </p:nvCxnSpPr>
        <p:spPr>
          <a:xfrm flipH="1" flipV="1">
            <a:off x="4105876" y="3682290"/>
            <a:ext cx="2318274" cy="165892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C6FB9123-4D67-481F-BCE3-D22E7AEDF11D}"/>
              </a:ext>
            </a:extLst>
          </p:cNvPr>
          <p:cNvCxnSpPr>
            <a:cxnSpLocks/>
          </p:cNvCxnSpPr>
          <p:nvPr/>
        </p:nvCxnSpPr>
        <p:spPr>
          <a:xfrm>
            <a:off x="3846896" y="2341986"/>
            <a:ext cx="0" cy="108786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30FE8030-216B-4145-881A-8EABA99C7AB4}"/>
                  </a:ext>
                </a:extLst>
              </p:cNvPr>
              <p:cNvSpPr txBox="1"/>
              <p:nvPr/>
            </p:nvSpPr>
            <p:spPr>
              <a:xfrm>
                <a:off x="2823238" y="1972654"/>
                <a:ext cx="2517099" cy="31797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𝑎𝑛𝑛𝑢𝑎𝑙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𝑖𝑛𝑐𝑜𝑚𝑒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&gt;1000000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30FE8030-216B-4145-881A-8EABA99C7A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23238" y="1972654"/>
                <a:ext cx="2517099" cy="317972"/>
              </a:xfrm>
              <a:prstGeom prst="rect">
                <a:avLst/>
              </a:prstGeom>
              <a:blipFill>
                <a:blip r:embed="rId15"/>
                <a:stretch>
                  <a:fillRect l="-726" r="-726" b="-1923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BED4957D-4C60-445E-A819-76D01CE57D7C}"/>
              </a:ext>
            </a:extLst>
          </p:cNvPr>
          <p:cNvCxnSpPr>
            <a:cxnSpLocks/>
          </p:cNvCxnSpPr>
          <p:nvPr/>
        </p:nvCxnSpPr>
        <p:spPr>
          <a:xfrm>
            <a:off x="3846894" y="1262994"/>
            <a:ext cx="0" cy="77720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文本框 29">
            <a:extLst>
              <a:ext uri="{FF2B5EF4-FFF2-40B4-BE49-F238E27FC236}">
                <a16:creationId xmlns:a16="http://schemas.microsoft.com/office/drawing/2014/main" id="{15FA800B-444D-4469-9236-C72721AC02D6}"/>
              </a:ext>
            </a:extLst>
          </p:cNvPr>
          <p:cNvSpPr txBox="1"/>
          <p:nvPr/>
        </p:nvSpPr>
        <p:spPr>
          <a:xfrm>
            <a:off x="7066428" y="6187997"/>
            <a:ext cx="14356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Customer</a:t>
            </a: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B45869B6-78CE-4874-B3E2-FED84667D441}"/>
              </a:ext>
            </a:extLst>
          </p:cNvPr>
          <p:cNvSpPr txBox="1"/>
          <p:nvPr/>
        </p:nvSpPr>
        <p:spPr>
          <a:xfrm>
            <a:off x="9433560" y="6187997"/>
            <a:ext cx="123565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Purchases</a:t>
            </a:r>
          </a:p>
        </p:txBody>
      </p:sp>
      <p:cxnSp>
        <p:nvCxnSpPr>
          <p:cNvPr id="32" name="直接连接符 31">
            <a:extLst>
              <a:ext uri="{FF2B5EF4-FFF2-40B4-BE49-F238E27FC236}">
                <a16:creationId xmlns:a16="http://schemas.microsoft.com/office/drawing/2014/main" id="{EB3CA419-E3AD-42F0-BB06-B3E30FF23ED7}"/>
              </a:ext>
            </a:extLst>
          </p:cNvPr>
          <p:cNvCxnSpPr>
            <a:cxnSpLocks/>
          </p:cNvCxnSpPr>
          <p:nvPr/>
        </p:nvCxnSpPr>
        <p:spPr>
          <a:xfrm flipV="1">
            <a:off x="7667349" y="4661595"/>
            <a:ext cx="1111460" cy="7237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连接符 32">
            <a:extLst>
              <a:ext uri="{FF2B5EF4-FFF2-40B4-BE49-F238E27FC236}">
                <a16:creationId xmlns:a16="http://schemas.microsoft.com/office/drawing/2014/main" id="{7C71C045-6509-4AEB-824F-806E7507CF3D}"/>
              </a:ext>
            </a:extLst>
          </p:cNvPr>
          <p:cNvCxnSpPr>
            <a:cxnSpLocks/>
          </p:cNvCxnSpPr>
          <p:nvPr/>
        </p:nvCxnSpPr>
        <p:spPr>
          <a:xfrm flipH="1" flipV="1">
            <a:off x="8989200" y="4642841"/>
            <a:ext cx="1069700" cy="73152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文本框 33">
                <a:extLst>
                  <a:ext uri="{FF2B5EF4-FFF2-40B4-BE49-F238E27FC236}">
                    <a16:creationId xmlns:a16="http://schemas.microsoft.com/office/drawing/2014/main" id="{BCA3C2B7-8DC6-4349-B0A9-9392746FBA20}"/>
                  </a:ext>
                </a:extLst>
              </p:cNvPr>
              <p:cNvSpPr txBox="1"/>
              <p:nvPr/>
            </p:nvSpPr>
            <p:spPr>
              <a:xfrm>
                <a:off x="8410299" y="4347880"/>
                <a:ext cx="981364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⋈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2.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𝐶𝑢𝑠𝑡𝑜𝑚𝑒𝑟𝐼𝑑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2.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𝐶𝑢𝑠𝑡𝑜𝑚𝑒𝑟𝐼𝑑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34" name="文本框 33">
                <a:extLst>
                  <a:ext uri="{FF2B5EF4-FFF2-40B4-BE49-F238E27FC236}">
                    <a16:creationId xmlns:a16="http://schemas.microsoft.com/office/drawing/2014/main" id="{BCA3C2B7-8DC6-4349-B0A9-9392746FBA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10299" y="4347880"/>
                <a:ext cx="981364" cy="307777"/>
              </a:xfrm>
              <a:prstGeom prst="rect">
                <a:avLst/>
              </a:prstGeom>
              <a:blipFill>
                <a:blip r:embed="rId16"/>
                <a:stretch>
                  <a:fillRect l="-7453" r="-216770" b="-156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5" name="直接连接符 34">
            <a:extLst>
              <a:ext uri="{FF2B5EF4-FFF2-40B4-BE49-F238E27FC236}">
                <a16:creationId xmlns:a16="http://schemas.microsoft.com/office/drawing/2014/main" id="{B8C5BE4C-486C-4104-AF8B-AC7B551006E5}"/>
              </a:ext>
            </a:extLst>
          </p:cNvPr>
          <p:cNvCxnSpPr>
            <a:cxnSpLocks/>
          </p:cNvCxnSpPr>
          <p:nvPr/>
        </p:nvCxnSpPr>
        <p:spPr>
          <a:xfrm>
            <a:off x="8891336" y="3429852"/>
            <a:ext cx="0" cy="108786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文本框 35">
                <a:extLst>
                  <a:ext uri="{FF2B5EF4-FFF2-40B4-BE49-F238E27FC236}">
                    <a16:creationId xmlns:a16="http://schemas.microsoft.com/office/drawing/2014/main" id="{09396A89-8599-474C-BB53-BEBBCC375401}"/>
                  </a:ext>
                </a:extLst>
              </p:cNvPr>
              <p:cNvSpPr txBox="1"/>
              <p:nvPr/>
            </p:nvSpPr>
            <p:spPr>
              <a:xfrm>
                <a:off x="7396368" y="3006019"/>
                <a:ext cx="3346750" cy="31265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𝐿𝑎𝑠𝑡𝑁𝑎𝑚𝑒</m:t>
                          </m:r>
                          <m:sSup>
                            <m:sSup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</m:e>
                            <m:sup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𝐺𝑟𝑒𝑒𝑛</m:t>
                          </m:r>
                          <m:sSup>
                            <m:sSup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 ∩ 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𝑃𝑟𝑖𝑐𝑒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 &gt; 100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36" name="文本框 35">
                <a:extLst>
                  <a:ext uri="{FF2B5EF4-FFF2-40B4-BE49-F238E27FC236}">
                    <a16:creationId xmlns:a16="http://schemas.microsoft.com/office/drawing/2014/main" id="{09396A89-8599-474C-BB53-BEBBCC3754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96368" y="3006019"/>
                <a:ext cx="3346750" cy="312650"/>
              </a:xfrm>
              <a:prstGeom prst="rect">
                <a:avLst/>
              </a:prstGeom>
              <a:blipFill>
                <a:blip r:embed="rId17"/>
                <a:stretch>
                  <a:fillRect l="-546" r="-546" b="-235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文本框 36">
                <a:extLst>
                  <a:ext uri="{FF2B5EF4-FFF2-40B4-BE49-F238E27FC236}">
                    <a16:creationId xmlns:a16="http://schemas.microsoft.com/office/drawing/2014/main" id="{F05F5A8D-91FE-4902-8170-A160317DB2C1}"/>
                  </a:ext>
                </a:extLst>
              </p:cNvPr>
              <p:cNvSpPr txBox="1"/>
              <p:nvPr/>
            </p:nvSpPr>
            <p:spPr>
              <a:xfrm>
                <a:off x="8280761" y="2042614"/>
                <a:ext cx="1381917" cy="31797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𝐶𝑢𝑠𝑡𝑜𝑚𝑒𝑟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𝑖𝑑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37" name="文本框 36">
                <a:extLst>
                  <a:ext uri="{FF2B5EF4-FFF2-40B4-BE49-F238E27FC236}">
                    <a16:creationId xmlns:a16="http://schemas.microsoft.com/office/drawing/2014/main" id="{F05F5A8D-91FE-4902-8170-A160317DB2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80761" y="2042614"/>
                <a:ext cx="1381917" cy="317972"/>
              </a:xfrm>
              <a:prstGeom prst="rect">
                <a:avLst/>
              </a:prstGeom>
              <a:blipFill>
                <a:blip r:embed="rId18"/>
                <a:stretch>
                  <a:fillRect l="-1762" r="-1322" b="-153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8" name="直接连接符 37">
            <a:extLst>
              <a:ext uri="{FF2B5EF4-FFF2-40B4-BE49-F238E27FC236}">
                <a16:creationId xmlns:a16="http://schemas.microsoft.com/office/drawing/2014/main" id="{042BA00B-BC9A-4729-9056-33D28084AAC3}"/>
              </a:ext>
            </a:extLst>
          </p:cNvPr>
          <p:cNvCxnSpPr>
            <a:cxnSpLocks/>
          </p:cNvCxnSpPr>
          <p:nvPr/>
        </p:nvCxnSpPr>
        <p:spPr>
          <a:xfrm>
            <a:off x="8881692" y="2369430"/>
            <a:ext cx="0" cy="77720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接连接符 38">
            <a:extLst>
              <a:ext uri="{FF2B5EF4-FFF2-40B4-BE49-F238E27FC236}">
                <a16:creationId xmlns:a16="http://schemas.microsoft.com/office/drawing/2014/main" id="{D687DF73-8332-40D3-AC59-945D1976B4A3}"/>
              </a:ext>
            </a:extLst>
          </p:cNvPr>
          <p:cNvCxnSpPr>
            <a:cxnSpLocks/>
            <a:endCxn id="44" idx="1"/>
          </p:cNvCxnSpPr>
          <p:nvPr/>
        </p:nvCxnSpPr>
        <p:spPr>
          <a:xfrm flipV="1">
            <a:off x="3862232" y="310367"/>
            <a:ext cx="2206919" cy="7019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连接符 39">
            <a:extLst>
              <a:ext uri="{FF2B5EF4-FFF2-40B4-BE49-F238E27FC236}">
                <a16:creationId xmlns:a16="http://schemas.microsoft.com/office/drawing/2014/main" id="{90BA755A-1B28-420E-A620-D8D0D1DFBAFC}"/>
              </a:ext>
            </a:extLst>
          </p:cNvPr>
          <p:cNvCxnSpPr>
            <a:cxnSpLocks/>
            <a:endCxn id="44" idx="3"/>
          </p:cNvCxnSpPr>
          <p:nvPr/>
        </p:nvCxnSpPr>
        <p:spPr>
          <a:xfrm flipH="1" flipV="1">
            <a:off x="6301586" y="394209"/>
            <a:ext cx="2629408" cy="181038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文本框 43">
                <a:extLst>
                  <a:ext uri="{FF2B5EF4-FFF2-40B4-BE49-F238E27FC236}">
                    <a16:creationId xmlns:a16="http://schemas.microsoft.com/office/drawing/2014/main" id="{903B56EC-F0A0-492C-8246-8497383DEF4E}"/>
                  </a:ext>
                </a:extLst>
              </p:cNvPr>
              <p:cNvSpPr txBox="1"/>
              <p:nvPr/>
            </p:nvSpPr>
            <p:spPr>
              <a:xfrm>
                <a:off x="6069151" y="156478"/>
                <a:ext cx="232435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∪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44" name="文本框 43">
                <a:extLst>
                  <a:ext uri="{FF2B5EF4-FFF2-40B4-BE49-F238E27FC236}">
                    <a16:creationId xmlns:a16="http://schemas.microsoft.com/office/drawing/2014/main" id="{903B56EC-F0A0-492C-8246-8497383DEF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69151" y="156478"/>
                <a:ext cx="232435" cy="307777"/>
              </a:xfrm>
              <a:prstGeom prst="rect">
                <a:avLst/>
              </a:prstGeom>
              <a:blipFill>
                <a:blip r:embed="rId19"/>
                <a:stretch>
                  <a:fillRect l="-21053" r="-21053" b="-2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8" name="直接连接符 47">
            <a:extLst>
              <a:ext uri="{FF2B5EF4-FFF2-40B4-BE49-F238E27FC236}">
                <a16:creationId xmlns:a16="http://schemas.microsoft.com/office/drawing/2014/main" id="{CC6982EB-C826-465B-9FC8-9D0665F0104D}"/>
              </a:ext>
            </a:extLst>
          </p:cNvPr>
          <p:cNvCxnSpPr>
            <a:cxnSpLocks/>
          </p:cNvCxnSpPr>
          <p:nvPr/>
        </p:nvCxnSpPr>
        <p:spPr>
          <a:xfrm>
            <a:off x="845595" y="5882070"/>
            <a:ext cx="0" cy="62395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9" name="文本框 48">
                <a:extLst>
                  <a:ext uri="{FF2B5EF4-FFF2-40B4-BE49-F238E27FC236}">
                    <a16:creationId xmlns:a16="http://schemas.microsoft.com/office/drawing/2014/main" id="{1FD4CE9E-A96A-4D63-B783-04D6CD1C3688}"/>
                  </a:ext>
                </a:extLst>
              </p:cNvPr>
              <p:cNvSpPr txBox="1"/>
              <p:nvPr/>
            </p:nvSpPr>
            <p:spPr>
              <a:xfrm>
                <a:off x="674635" y="5605071"/>
                <a:ext cx="427296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𝜌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49" name="文本框 48">
                <a:extLst>
                  <a:ext uri="{FF2B5EF4-FFF2-40B4-BE49-F238E27FC236}">
                    <a16:creationId xmlns:a16="http://schemas.microsoft.com/office/drawing/2014/main" id="{1FD4CE9E-A96A-4D63-B783-04D6CD1C36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4635" y="5605071"/>
                <a:ext cx="427296" cy="307777"/>
              </a:xfrm>
              <a:prstGeom prst="rect">
                <a:avLst/>
              </a:prstGeom>
              <a:blipFill>
                <a:blip r:embed="rId20"/>
                <a:stretch>
                  <a:fillRect l="-14286" r="-5714" b="-235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矩形 50">
                <a:extLst>
                  <a:ext uri="{FF2B5EF4-FFF2-40B4-BE49-F238E27FC236}">
                    <a16:creationId xmlns:a16="http://schemas.microsoft.com/office/drawing/2014/main" id="{79735C9F-A00A-4ADC-81A3-D4B8C548942C}"/>
                  </a:ext>
                </a:extLst>
              </p:cNvPr>
              <p:cNvSpPr/>
              <p:nvPr/>
            </p:nvSpPr>
            <p:spPr>
              <a:xfrm>
                <a:off x="2943757" y="5567639"/>
                <a:ext cx="619977" cy="40011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𝜌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51" name="矩形 50">
                <a:extLst>
                  <a:ext uri="{FF2B5EF4-FFF2-40B4-BE49-F238E27FC236}">
                    <a16:creationId xmlns:a16="http://schemas.microsoft.com/office/drawing/2014/main" id="{79735C9F-A00A-4ADC-81A3-D4B8C548942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43757" y="5567639"/>
                <a:ext cx="619977" cy="400110"/>
              </a:xfrm>
              <a:prstGeom prst="rect">
                <a:avLst/>
              </a:prstGeom>
              <a:blipFill>
                <a:blip r:embed="rId21"/>
                <a:stretch>
                  <a:fillRect b="-75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2" name="直接连接符 51">
            <a:extLst>
              <a:ext uri="{FF2B5EF4-FFF2-40B4-BE49-F238E27FC236}">
                <a16:creationId xmlns:a16="http://schemas.microsoft.com/office/drawing/2014/main" id="{AB8AF789-3CDC-422B-A415-7D8B551EB0A3}"/>
              </a:ext>
            </a:extLst>
          </p:cNvPr>
          <p:cNvCxnSpPr>
            <a:cxnSpLocks/>
          </p:cNvCxnSpPr>
          <p:nvPr/>
        </p:nvCxnSpPr>
        <p:spPr>
          <a:xfrm>
            <a:off x="3234867" y="5928236"/>
            <a:ext cx="0" cy="62395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3" name="矩形 52">
                <a:extLst>
                  <a:ext uri="{FF2B5EF4-FFF2-40B4-BE49-F238E27FC236}">
                    <a16:creationId xmlns:a16="http://schemas.microsoft.com/office/drawing/2014/main" id="{0765D09C-43E2-4757-890A-62446E348169}"/>
                  </a:ext>
                </a:extLst>
              </p:cNvPr>
              <p:cNvSpPr/>
              <p:nvPr/>
            </p:nvSpPr>
            <p:spPr>
              <a:xfrm>
                <a:off x="5925312" y="5289642"/>
                <a:ext cx="600484" cy="40011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𝜌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53" name="矩形 52">
                <a:extLst>
                  <a:ext uri="{FF2B5EF4-FFF2-40B4-BE49-F238E27FC236}">
                    <a16:creationId xmlns:a16="http://schemas.microsoft.com/office/drawing/2014/main" id="{0765D09C-43E2-4757-890A-62446E34816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25312" y="5289642"/>
                <a:ext cx="600484" cy="400110"/>
              </a:xfrm>
              <a:prstGeom prst="rect">
                <a:avLst/>
              </a:prstGeom>
              <a:blipFill>
                <a:blip r:embed="rId22"/>
                <a:stretch>
                  <a:fillRect b="-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4" name="直接连接符 53">
            <a:extLst>
              <a:ext uri="{FF2B5EF4-FFF2-40B4-BE49-F238E27FC236}">
                <a16:creationId xmlns:a16="http://schemas.microsoft.com/office/drawing/2014/main" id="{15427A65-3C61-496E-BA96-ADF68AFE6C55}"/>
              </a:ext>
            </a:extLst>
          </p:cNvPr>
          <p:cNvCxnSpPr>
            <a:cxnSpLocks/>
          </p:cNvCxnSpPr>
          <p:nvPr/>
        </p:nvCxnSpPr>
        <p:spPr>
          <a:xfrm>
            <a:off x="6216422" y="5650239"/>
            <a:ext cx="0" cy="62395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7" name="矩形 56">
                <a:extLst>
                  <a:ext uri="{FF2B5EF4-FFF2-40B4-BE49-F238E27FC236}">
                    <a16:creationId xmlns:a16="http://schemas.microsoft.com/office/drawing/2014/main" id="{63CB393E-EA1F-4CB3-AD59-7D594A5DB2E1}"/>
                  </a:ext>
                </a:extLst>
              </p:cNvPr>
              <p:cNvSpPr/>
              <p:nvPr/>
            </p:nvSpPr>
            <p:spPr>
              <a:xfrm>
                <a:off x="7254963" y="5289642"/>
                <a:ext cx="611962" cy="40011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𝜌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57" name="矩形 56">
                <a:extLst>
                  <a:ext uri="{FF2B5EF4-FFF2-40B4-BE49-F238E27FC236}">
                    <a16:creationId xmlns:a16="http://schemas.microsoft.com/office/drawing/2014/main" id="{63CB393E-EA1F-4CB3-AD59-7D594A5DB2E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54963" y="5289642"/>
                <a:ext cx="611962" cy="400110"/>
              </a:xfrm>
              <a:prstGeom prst="rect">
                <a:avLst/>
              </a:prstGeom>
              <a:blipFill>
                <a:blip r:embed="rId23"/>
                <a:stretch>
                  <a:fillRect b="-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8" name="直接连接符 57">
            <a:extLst>
              <a:ext uri="{FF2B5EF4-FFF2-40B4-BE49-F238E27FC236}">
                <a16:creationId xmlns:a16="http://schemas.microsoft.com/office/drawing/2014/main" id="{F7A1C392-323C-4B17-BCC7-73FD7F19EC0B}"/>
              </a:ext>
            </a:extLst>
          </p:cNvPr>
          <p:cNvCxnSpPr>
            <a:cxnSpLocks/>
          </p:cNvCxnSpPr>
          <p:nvPr/>
        </p:nvCxnSpPr>
        <p:spPr>
          <a:xfrm>
            <a:off x="7546073" y="5650239"/>
            <a:ext cx="0" cy="62395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9" name="矩形 58">
                <a:extLst>
                  <a:ext uri="{FF2B5EF4-FFF2-40B4-BE49-F238E27FC236}">
                    <a16:creationId xmlns:a16="http://schemas.microsoft.com/office/drawing/2014/main" id="{E387F2BD-91C9-4732-8FD1-925638AFECBC}"/>
                  </a:ext>
                </a:extLst>
              </p:cNvPr>
              <p:cNvSpPr/>
              <p:nvPr/>
            </p:nvSpPr>
            <p:spPr>
              <a:xfrm>
                <a:off x="9605962" y="5289642"/>
                <a:ext cx="619977" cy="40011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𝜌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59" name="矩形 58">
                <a:extLst>
                  <a:ext uri="{FF2B5EF4-FFF2-40B4-BE49-F238E27FC236}">
                    <a16:creationId xmlns:a16="http://schemas.microsoft.com/office/drawing/2014/main" id="{E387F2BD-91C9-4732-8FD1-925638AFECB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05962" y="5289642"/>
                <a:ext cx="619977" cy="400110"/>
              </a:xfrm>
              <a:prstGeom prst="rect">
                <a:avLst/>
              </a:prstGeom>
              <a:blipFill>
                <a:blip r:embed="rId24"/>
                <a:stretch>
                  <a:fillRect b="-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0" name="直接连接符 59">
            <a:extLst>
              <a:ext uri="{FF2B5EF4-FFF2-40B4-BE49-F238E27FC236}">
                <a16:creationId xmlns:a16="http://schemas.microsoft.com/office/drawing/2014/main" id="{E7949E10-0A67-4F2D-888E-0A9A8C7D983E}"/>
              </a:ext>
            </a:extLst>
          </p:cNvPr>
          <p:cNvCxnSpPr>
            <a:cxnSpLocks/>
          </p:cNvCxnSpPr>
          <p:nvPr/>
        </p:nvCxnSpPr>
        <p:spPr>
          <a:xfrm>
            <a:off x="9897072" y="5650239"/>
            <a:ext cx="0" cy="62395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直接连接符 61">
            <a:extLst>
              <a:ext uri="{FF2B5EF4-FFF2-40B4-BE49-F238E27FC236}">
                <a16:creationId xmlns:a16="http://schemas.microsoft.com/office/drawing/2014/main" id="{3A160A14-124B-49AF-A154-B87DC277ADD3}"/>
              </a:ext>
            </a:extLst>
          </p:cNvPr>
          <p:cNvCxnSpPr>
            <a:cxnSpLocks/>
          </p:cNvCxnSpPr>
          <p:nvPr/>
        </p:nvCxnSpPr>
        <p:spPr>
          <a:xfrm>
            <a:off x="2058840" y="4189997"/>
            <a:ext cx="0" cy="62395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3" name="文本框 62">
                <a:extLst>
                  <a:ext uri="{FF2B5EF4-FFF2-40B4-BE49-F238E27FC236}">
                    <a16:creationId xmlns:a16="http://schemas.microsoft.com/office/drawing/2014/main" id="{E0F0148C-8432-479F-AF9D-64BE623B9D1C}"/>
                  </a:ext>
                </a:extLst>
              </p:cNvPr>
              <p:cNvSpPr txBox="1"/>
              <p:nvPr/>
            </p:nvSpPr>
            <p:spPr>
              <a:xfrm>
                <a:off x="1830479" y="3840192"/>
                <a:ext cx="789575" cy="33143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𝜌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𝑡𝑒𝑚𝑝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63" name="文本框 62">
                <a:extLst>
                  <a:ext uri="{FF2B5EF4-FFF2-40B4-BE49-F238E27FC236}">
                    <a16:creationId xmlns:a16="http://schemas.microsoft.com/office/drawing/2014/main" id="{E0F0148C-8432-479F-AF9D-64BE623B9D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30479" y="3840192"/>
                <a:ext cx="789575" cy="331437"/>
              </a:xfrm>
              <a:prstGeom prst="rect">
                <a:avLst/>
              </a:prstGeom>
              <a:blipFill>
                <a:blip r:embed="rId25"/>
                <a:stretch>
                  <a:fillRect l="-7692" r="-4615" b="-259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707222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B12E8CD4-F892-4C38-9AFF-C2A2B23C8138}"/>
                  </a:ext>
                </a:extLst>
              </p:cNvPr>
              <p:cNvSpPr txBox="1"/>
              <p:nvPr/>
            </p:nvSpPr>
            <p:spPr>
              <a:xfrm>
                <a:off x="1300480" y="2983140"/>
                <a:ext cx="8152040" cy="63562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𝑆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𝑁𝑒𝑡𝐼𝑑</m:t>
                          </m:r>
                        </m:sub>
                      </m:sSub>
                      <m:d>
                        <m:d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.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𝐷𝑒𝑝𝑎𝑟𝑡𝑚𝑒𝑛𝑡</m:t>
                                  </m:r>
                                  <m:sSup>
                                    <m:s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=</m:t>
                                      </m:r>
                                    </m:e>
                                    <m: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  <m:sSup>
                                    <m:s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𝑆</m:t>
                                      </m:r>
                                    </m:e>
                                    <m: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𝑆𝑡𝑢𝑑𝑒𝑛𝑡𝑠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⋈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.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𝑁𝑒𝑡𝐼𝑑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=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.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𝑁𝑒𝑡𝐼𝑑</m:t>
                                  </m:r>
                                </m:sub>
                              </m:sSub>
                            </m:e>
                            <m:e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𝜎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𝐸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.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𝐶𝑟𝑒𝑑𝑖𝑡𝑠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=4</m:t>
                                      </m:r>
                                    </m:sub>
                                  </m:s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𝐸𝑛𝑟𝑜𝑙𝑙𝑚𝑒𝑛𝑡𝑠</m:t>
                                  </m:r>
                                </m:e>
                              </m:d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⋈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.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𝐶𝑅𝑁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=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.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𝐶𝑅𝑁</m:t>
                                  </m:r>
                                </m:sub>
                              </m:sSub>
                              <m:r>
                                <a:rPr lang="en-US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.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𝐷𝑒𝑝𝑎𝑟𝑡𝑚𝑒𝑛𝑡</m:t>
                                  </m:r>
                                  <m:sSup>
                                    <m:s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=</m:t>
                                      </m:r>
                                    </m:e>
                                    <m: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𝐸𝐶</m:t>
                                  </m:r>
                                  <m:sSup>
                                    <m:s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𝐸</m:t>
                                      </m:r>
                                    </m:e>
                                    <m: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𝐶𝑜𝑢𝑟𝑠𝑒𝑠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B12E8CD4-F892-4C38-9AFF-C2A2B23C81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00480" y="2983140"/>
                <a:ext cx="8152040" cy="63562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A59E05C2-37FA-4949-BB0E-84CC35B6B7FA}"/>
                  </a:ext>
                </a:extLst>
              </p:cNvPr>
              <p:cNvSpPr txBox="1"/>
              <p:nvPr/>
            </p:nvSpPr>
            <p:spPr>
              <a:xfrm>
                <a:off x="6637558" y="4770120"/>
                <a:ext cx="265027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𝐶𝑟𝑒𝑑𝑖𝑡𝑠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=4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𝐸𝑛𝑟𝑜𝑙𝑙𝑚𝑒𝑛𝑡𝑠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A59E05C2-37FA-4949-BB0E-84CC35B6B7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37558" y="4770120"/>
                <a:ext cx="2650277" cy="276999"/>
              </a:xfrm>
              <a:prstGeom prst="rect">
                <a:avLst/>
              </a:prstGeom>
              <a:blipFill>
                <a:blip r:embed="rId3"/>
                <a:stretch>
                  <a:fillRect l="-920" t="-4444" r="-2759" b="-3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C4B4584D-037B-4E1E-BC78-83EAC016CE72}"/>
                  </a:ext>
                </a:extLst>
              </p:cNvPr>
              <p:cNvSpPr txBox="1"/>
              <p:nvPr/>
            </p:nvSpPr>
            <p:spPr>
              <a:xfrm>
                <a:off x="6471359" y="2033389"/>
                <a:ext cx="2982676" cy="31066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𝐷𝑒𝑝𝑎𝑟𝑡𝑚𝑒𝑛𝑡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𝐸𝐶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𝐶𝑜𝑢𝑟𝑠𝑒𝑠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C4B4584D-037B-4E1E-BC78-83EAC016CE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71359" y="2033389"/>
                <a:ext cx="2982676" cy="310662"/>
              </a:xfrm>
              <a:prstGeom prst="rect">
                <a:avLst/>
              </a:prstGeom>
              <a:blipFill>
                <a:blip r:embed="rId4"/>
                <a:stretch>
                  <a:fillRect l="-613" t="-1961" r="-2454" b="-235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75932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A9106C49-0D07-43D2-8A13-BB320426B118}"/>
                  </a:ext>
                </a:extLst>
              </p:cNvPr>
              <p:cNvSpPr txBox="1"/>
              <p:nvPr/>
            </p:nvSpPr>
            <p:spPr>
              <a:xfrm>
                <a:off x="2272389" y="2819400"/>
                <a:ext cx="6691896" cy="28796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𝐹𝑖𝑟𝑠𝑡𝑁𝑎𝑚𝑒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𝐸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𝑁𝑒𝑡𝐼𝑑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 = 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𝑐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%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∩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𝐸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.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𝑆𝑐𝑜𝑟𝑒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&gt; 90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𝐸𝑛𝑟𝑜𝑙𝑙𝑚𝑒𝑛𝑡𝑠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)⋈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𝑆𝑡𝑢𝑑𝑒𝑛𝑡𝑠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A9106C49-0D07-43D2-8A13-BB320426B1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72389" y="2819400"/>
                <a:ext cx="6691896" cy="287964"/>
              </a:xfrm>
              <a:prstGeom prst="rect">
                <a:avLst/>
              </a:prstGeom>
              <a:blipFill>
                <a:blip r:embed="rId2"/>
                <a:stretch>
                  <a:fillRect t="-2128" r="-820" b="-297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920555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955</TotalTime>
  <Words>134</Words>
  <Application>Microsoft Office PowerPoint</Application>
  <PresentationFormat>宽屏</PresentationFormat>
  <Paragraphs>35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0" baseType="lpstr">
      <vt:lpstr>Arial</vt:lpstr>
      <vt:lpstr>Calibri</vt:lpstr>
      <vt:lpstr>Calibri Light</vt:lpstr>
      <vt:lpstr>Cambria Math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Zhicong Fan</dc:creator>
  <cp:lastModifiedBy>Fan Zhicong</cp:lastModifiedBy>
  <cp:revision>26</cp:revision>
  <dcterms:created xsi:type="dcterms:W3CDTF">2019-07-23T18:50:25Z</dcterms:created>
  <dcterms:modified xsi:type="dcterms:W3CDTF">2019-07-26T01:54:16Z</dcterms:modified>
</cp:coreProperties>
</file>